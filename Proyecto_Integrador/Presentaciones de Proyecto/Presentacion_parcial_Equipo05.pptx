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Roboto Serif"/>
      <p:regular r:id="rId28"/>
      <p:bold r:id="rId29"/>
      <p:italic r:id="rId30"/>
      <p:boldItalic r:id="rId31"/>
    </p:embeddedFont>
    <p:embeddedFont>
      <p:font typeface="Poppins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h2ymWrApoJJYqg5aPaun4kcF5V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B226AC-CAD4-465F-99F7-B25A05D7D46E}">
  <a:tblStyle styleId="{84B226AC-CAD4-465F-99F7-B25A05D7D4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erif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rif-boldItalic.fntdata"/><Relationship Id="rId30" Type="http://schemas.openxmlformats.org/officeDocument/2006/relationships/font" Target="fonts/RobotoSerif-italic.fntdata"/><Relationship Id="rId11" Type="http://schemas.openxmlformats.org/officeDocument/2006/relationships/slide" Target="slides/slide6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239e89d27a6115a_3_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h5239e89d27a6115a_3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5239e89d27a6115a_3_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h5239e89d27a6115a_3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5239e89d27a6115a_3_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h5239e89d27a6115a_3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5239e89d27a6115a_3_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5239e89d27a6115a_3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f658c465484e9a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hf658c465484e9a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f658c465484e9ad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hf658c465484e9ad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5239e89d27a6115a_3_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h5239e89d27a6115a_3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h5239e89d27a6115a_1_50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h5239e89d27a6115a_1_50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h5239e89d27a6115a_1_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5239e89d27a6115a_1_54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h5239e89d27a6115a_1_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5239e89d27a6115a_1_5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h5239e89d27a6115a_1_5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h5239e89d27a6115a_1_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5239e89d27a6115a_1_6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h5239e89d27a6115a_1_6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h5239e89d27a6115a_1_6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h5239e89d27a6115a_1_6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h5239e89d27a6115a_1_6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h5239e89d27a6115a_1_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h5239e89d27a6115a_1_6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h5239e89d27a6115a_1_6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h5239e89d27a6115a_1_6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h5239e89d27a6115a_1_73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h5239e89d27a6115a_1_7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h5239e89d27a6115a_1_7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h5239e89d27a6115a_1_76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h5239e89d27a6115a_1_76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h5239e89d27a6115a_1_76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h5239e89d27a6115a_1_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h5239e89d27a6115a_1_8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h5239e89d27a6115a_1_8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5239e89d27a6115a_1_85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h5239e89d27a6115a_1_85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h5239e89d27a6115a_1_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5239e89d27a6115a_1_8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icio">
  <p:cSld name="Inicio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5239e89d27a6115a_1_9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h5239e89d27a6115a_1_9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h5239e89d27a6115a_1_9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  <p:pic>
        <p:nvPicPr>
          <p:cNvPr id="58" name="Google Shape;58;h5239e89d27a6115a_1_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90"/>
            <a:ext cx="12191485" cy="6858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Sección">
  <p:cSld name="1. Secció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h5239e89d27a6115a_1_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h5239e89d27a6115a_1_96"/>
          <p:cNvSpPr/>
          <p:nvPr/>
        </p:nvSpPr>
        <p:spPr>
          <a:xfrm>
            <a:off x="-1" y="5107439"/>
            <a:ext cx="6154200" cy="1642200"/>
          </a:xfrm>
          <a:prstGeom prst="rect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h5239e89d27a6115a_1_96"/>
          <p:cNvSpPr txBox="1"/>
          <p:nvPr>
            <p:ph type="title"/>
          </p:nvPr>
        </p:nvSpPr>
        <p:spPr>
          <a:xfrm>
            <a:off x="838200" y="2680586"/>
            <a:ext cx="10243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oppins"/>
              <a:buNone/>
              <a:defRPr b="1" sz="4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3" name="Google Shape;63;h5239e89d27a6115a_1_96"/>
          <p:cNvSpPr txBox="1"/>
          <p:nvPr>
            <p:ph idx="1" type="body"/>
          </p:nvPr>
        </p:nvSpPr>
        <p:spPr>
          <a:xfrm>
            <a:off x="838200" y="4065976"/>
            <a:ext cx="10243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4" name="Google Shape;64;h5239e89d27a6115a_1_96"/>
          <p:cNvSpPr/>
          <p:nvPr/>
        </p:nvSpPr>
        <p:spPr>
          <a:xfrm>
            <a:off x="0" y="-1"/>
            <a:ext cx="6154200" cy="1642200"/>
          </a:xfrm>
          <a:prstGeom prst="rect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h5239e89d27a6115a_1_9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221342" y="149588"/>
            <a:ext cx="3552371" cy="1343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ítulo y texto">
  <p:cSld name="2. Título y texto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h5239e89d27a6115a_1_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90"/>
            <a:ext cx="12191485" cy="6858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h5239e89d27a6115a_1_10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  <a:defRPr b="1" sz="32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9" name="Google Shape;69;h5239e89d27a6115a_1_103"/>
          <p:cNvSpPr txBox="1"/>
          <p:nvPr>
            <p:ph idx="1" type="body"/>
          </p:nvPr>
        </p:nvSpPr>
        <p:spPr>
          <a:xfrm>
            <a:off x="838200" y="1825625"/>
            <a:ext cx="10515600" cy="3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000"/>
              <a:buChar char="●"/>
              <a:defRPr sz="2000">
                <a:solidFill>
                  <a:srgbClr val="3A383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3A3838"/>
              </a:buClr>
              <a:buSzPts val="1800"/>
              <a:buChar char="○"/>
              <a:defRPr sz="1800">
                <a:solidFill>
                  <a:srgbClr val="3A383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302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3A3838"/>
              </a:buClr>
              <a:buSzPts val="1600"/>
              <a:buChar char="■"/>
              <a:defRPr sz="1600">
                <a:solidFill>
                  <a:srgbClr val="3A383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302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3A3838"/>
              </a:buClr>
              <a:buSzPts val="1600"/>
              <a:buChar char="●"/>
              <a:defRPr sz="1600">
                <a:solidFill>
                  <a:srgbClr val="3A383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3A3838"/>
              </a:buClr>
              <a:buSzPts val="1600"/>
              <a:buChar char="○"/>
              <a:defRPr sz="1600">
                <a:solidFill>
                  <a:srgbClr val="3A383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ítulo">
  <p:cSld name="3_Título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h5239e89d27a6115a_1_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90"/>
            <a:ext cx="12191485" cy="685828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h5239e89d27a6115a_1_10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  <a:defRPr b="1" sz="32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5239e89d27a6115a_1_4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h5239e89d27a6115a_1_4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h5239e89d27a6115a_1_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1.png"/><Relationship Id="rId11" Type="http://schemas.openxmlformats.org/officeDocument/2006/relationships/image" Target="../media/image22.png"/><Relationship Id="rId22" Type="http://schemas.openxmlformats.org/officeDocument/2006/relationships/image" Target="../media/image7.png"/><Relationship Id="rId10" Type="http://schemas.openxmlformats.org/officeDocument/2006/relationships/image" Target="../media/image21.png"/><Relationship Id="rId21" Type="http://schemas.openxmlformats.org/officeDocument/2006/relationships/image" Target="../media/image32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7" Type="http://schemas.openxmlformats.org/officeDocument/2006/relationships/image" Target="../media/image28.png"/><Relationship Id="rId16" Type="http://schemas.openxmlformats.org/officeDocument/2006/relationships/image" Target="../media/image27.png"/><Relationship Id="rId5" Type="http://schemas.openxmlformats.org/officeDocument/2006/relationships/image" Target="../media/image16.png"/><Relationship Id="rId19" Type="http://schemas.openxmlformats.org/officeDocument/2006/relationships/image" Target="../media/image29.png"/><Relationship Id="rId6" Type="http://schemas.openxmlformats.org/officeDocument/2006/relationships/image" Target="../media/image17.png"/><Relationship Id="rId18" Type="http://schemas.openxmlformats.org/officeDocument/2006/relationships/image" Target="../media/image30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49.png"/><Relationship Id="rId22" Type="http://schemas.openxmlformats.org/officeDocument/2006/relationships/image" Target="../media/image50.png"/><Relationship Id="rId21" Type="http://schemas.openxmlformats.org/officeDocument/2006/relationships/image" Target="../media/image51.png"/><Relationship Id="rId24" Type="http://schemas.openxmlformats.org/officeDocument/2006/relationships/image" Target="../media/image53.png"/><Relationship Id="rId23" Type="http://schemas.openxmlformats.org/officeDocument/2006/relationships/image" Target="../media/image5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26" Type="http://schemas.openxmlformats.org/officeDocument/2006/relationships/image" Target="../media/image56.png"/><Relationship Id="rId25" Type="http://schemas.openxmlformats.org/officeDocument/2006/relationships/image" Target="../media/image54.png"/><Relationship Id="rId28" Type="http://schemas.openxmlformats.org/officeDocument/2006/relationships/image" Target="../media/image57.png"/><Relationship Id="rId27" Type="http://schemas.openxmlformats.org/officeDocument/2006/relationships/image" Target="../media/image55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11" Type="http://schemas.openxmlformats.org/officeDocument/2006/relationships/image" Target="../media/image40.png"/><Relationship Id="rId10" Type="http://schemas.openxmlformats.org/officeDocument/2006/relationships/image" Target="../media/image39.png"/><Relationship Id="rId13" Type="http://schemas.openxmlformats.org/officeDocument/2006/relationships/image" Target="../media/image42.png"/><Relationship Id="rId12" Type="http://schemas.openxmlformats.org/officeDocument/2006/relationships/image" Target="../media/image41.png"/><Relationship Id="rId15" Type="http://schemas.openxmlformats.org/officeDocument/2006/relationships/image" Target="../media/image44.png"/><Relationship Id="rId14" Type="http://schemas.openxmlformats.org/officeDocument/2006/relationships/image" Target="../media/image43.png"/><Relationship Id="rId17" Type="http://schemas.openxmlformats.org/officeDocument/2006/relationships/image" Target="../media/image46.png"/><Relationship Id="rId16" Type="http://schemas.openxmlformats.org/officeDocument/2006/relationships/image" Target="../media/image45.png"/><Relationship Id="rId19" Type="http://schemas.openxmlformats.org/officeDocument/2006/relationships/image" Target="../media/image48.png"/><Relationship Id="rId18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jpg"/><Relationship Id="rId4" Type="http://schemas.openxmlformats.org/officeDocument/2006/relationships/image" Target="../media/image60.jpg"/><Relationship Id="rId5" Type="http://schemas.openxmlformats.org/officeDocument/2006/relationships/image" Target="../media/image59.jpg"/><Relationship Id="rId6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jp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ad.onshape.com/documents/06947ddb91d11baa99cb7771/w/ae9234bc94d45c112f779e45/e/bae95c7a29d602dc0212cc6e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6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3.jpg"/><Relationship Id="rId4" Type="http://schemas.openxmlformats.org/officeDocument/2006/relationships/image" Target="../media/image65.jpg"/><Relationship Id="rId5" Type="http://schemas.openxmlformats.org/officeDocument/2006/relationships/image" Target="../media/image64.jpg"/><Relationship Id="rId6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841248" y="1537725"/>
            <a:ext cx="10241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</a:pPr>
            <a:r>
              <a:rPr lang="es-PE" sz="4800" u="sng"/>
              <a:t>Equipo 05: Chitosan</a:t>
            </a:r>
            <a:endParaRPr u="sng"/>
          </a:p>
        </p:txBody>
      </p:sp>
      <p:sp>
        <p:nvSpPr>
          <p:cNvPr id="82" name="Google Shape;82;p2"/>
          <p:cNvSpPr txBox="1"/>
          <p:nvPr>
            <p:ph idx="1" type="body"/>
          </p:nvPr>
        </p:nvSpPr>
        <p:spPr>
          <a:xfrm>
            <a:off x="975298" y="2580175"/>
            <a:ext cx="10241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000"/>
              <a:buNone/>
            </a:pPr>
            <a:r>
              <a:rPr lang="es-PE" sz="2000">
                <a:latin typeface="Poppins"/>
                <a:ea typeface="Poppins"/>
                <a:cs typeface="Poppins"/>
                <a:sym typeface="Poppins"/>
              </a:rPr>
              <a:t>Desarrollo de un sistema automatizado para la clarificación de agua mediante dosificación de quitosano</a:t>
            </a:r>
            <a:endParaRPr/>
          </a:p>
        </p:txBody>
      </p:sp>
      <p:sp>
        <p:nvSpPr>
          <p:cNvPr id="83" name="Google Shape;83;p2"/>
          <p:cNvSpPr txBox="1"/>
          <p:nvPr/>
        </p:nvSpPr>
        <p:spPr>
          <a:xfrm>
            <a:off x="841310" y="6098193"/>
            <a:ext cx="10241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None/>
            </a:pPr>
            <a:r>
              <a:rPr b="1" i="0" lang="es-PE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 Integrador · Universidad Peruana Cayetano Heredia · 2026-II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972900" y="3698388"/>
            <a:ext cx="5978100" cy="215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</a:pPr>
            <a:r>
              <a:rPr b="1" lang="es-PE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Marcelo Alarcón Camones</a:t>
            </a:r>
            <a:r>
              <a:rPr lang="es-P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·   Líder del equipo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</a:pPr>
            <a:r>
              <a:rPr b="1" lang="es-PE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Brad Cárdenas Parián</a:t>
            </a:r>
            <a:r>
              <a:rPr lang="es-P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·   Diseño y modelado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</a:pPr>
            <a:r>
              <a:rPr b="1" lang="es-PE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Leonel Urbano Castillo</a:t>
            </a:r>
            <a:r>
              <a:rPr lang="es-P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·   Investigación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</a:pPr>
            <a:r>
              <a:rPr b="1" lang="es-PE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Idania Parhuay Meza</a:t>
            </a:r>
            <a:r>
              <a:rPr lang="es-P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·   Documentación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</a:pPr>
            <a:r>
              <a:rPr b="1" lang="es-PE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Gael Milla Fasabi</a:t>
            </a:r>
            <a:r>
              <a:rPr lang="es-P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·   Programación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8050" y="0"/>
            <a:ext cx="1913950" cy="191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5239e89d27a6115a_3_66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h5239e89d27a6115a_3_66"/>
          <p:cNvSpPr txBox="1"/>
          <p:nvPr>
            <p:ph idx="4294967295" type="title"/>
          </p:nvPr>
        </p:nvSpPr>
        <p:spPr>
          <a:xfrm>
            <a:off x="638500" y="589877"/>
            <a:ext cx="110916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Problemática: el río Lurín (Pachacámac)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2" name="Google Shape;92;h5239e89d27a6115a_3_66"/>
          <p:cNvSpPr txBox="1"/>
          <p:nvPr/>
        </p:nvSpPr>
        <p:spPr>
          <a:xfrm>
            <a:off x="550265" y="1606882"/>
            <a:ext cx="1109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 de estudio: un río cuya calidad cambia según el tramo y la época del año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h5239e89d27a6115a_3_66"/>
          <p:cNvSpPr txBox="1"/>
          <p:nvPr/>
        </p:nvSpPr>
        <p:spPr>
          <a:xfrm>
            <a:off x="548553" y="1840015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Poppins"/>
              <a:buNone/>
            </a:pPr>
            <a:r>
              <a:rPr b="1" i="0" lang="es-PE" sz="1200" u="none" cap="none" strike="noStrike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EL RÍO LURÍN EN CIFRAS</a:t>
            </a:r>
            <a:endParaRPr b="0" i="0" sz="12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h5239e89d27a6115a_3_66"/>
          <p:cNvSpPr/>
          <p:nvPr/>
        </p:nvSpPr>
        <p:spPr>
          <a:xfrm>
            <a:off x="548553" y="2096048"/>
            <a:ext cx="2606100" cy="16917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64575" spcFirstLastPara="1" rIns="1645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2600"/>
              <a:buFont typeface="Poppins"/>
              <a:buNone/>
            </a:pPr>
            <a:r>
              <a:rPr b="1" i="0" lang="es-PE" sz="2600" u="none" cap="none" strike="noStrike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&gt; 100 %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150"/>
              <a:buFont typeface="Poppins"/>
              <a:buNone/>
            </a:pPr>
            <a:r>
              <a:rPr b="0" i="0" lang="es-PE" sz="115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por encima del ECA: E. coli y coliformes termotolerantes en el tramo bajo, en época húmeda y seca [1]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h5239e89d27a6115a_3_66"/>
          <p:cNvSpPr/>
          <p:nvPr/>
        </p:nvSpPr>
        <p:spPr>
          <a:xfrm>
            <a:off x="3377096" y="2096048"/>
            <a:ext cx="2606100" cy="16917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64575" spcFirstLastPara="1" rIns="1645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2600"/>
              <a:buFont typeface="Poppins"/>
              <a:buNone/>
            </a:pPr>
            <a:r>
              <a:rPr b="1" i="0" lang="es-PE" sz="2600" u="none" cap="none" strike="noStrike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Julio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150"/>
              <a:buFont typeface="Poppins"/>
              <a:buNone/>
            </a:pPr>
            <a:r>
              <a:rPr b="0" i="0" lang="es-PE" sz="115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es el mes más crítico en el tramo bajo, donde se concentra la mayor contaminación [2]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h5239e89d27a6115a_3_66"/>
          <p:cNvSpPr/>
          <p:nvPr/>
        </p:nvSpPr>
        <p:spPr>
          <a:xfrm>
            <a:off x="6205641" y="2096048"/>
            <a:ext cx="2606100" cy="16917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64575" spcFirstLastPara="1" rIns="1645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2600"/>
              <a:buFont typeface="Poppins"/>
              <a:buNone/>
            </a:pPr>
            <a:r>
              <a:rPr b="1" i="0" lang="es-PE" sz="2600" u="none" cap="none" strike="noStrike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Excelente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150"/>
              <a:buFont typeface="Poppins"/>
              <a:buNone/>
            </a:pPr>
            <a:r>
              <a:rPr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En un estudio realizado para tres puntos de monitoreo de la cuenca media durante 2019–2023, la calidad fue calificada como excelente </a:t>
            </a:r>
            <a:r>
              <a:rPr b="0" i="0" lang="es-PE" sz="115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[4]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h5239e89d27a6115a_3_66"/>
          <p:cNvSpPr/>
          <p:nvPr/>
        </p:nvSpPr>
        <p:spPr>
          <a:xfrm>
            <a:off x="9034185" y="2096048"/>
            <a:ext cx="2606100" cy="16917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64575" spcFirstLastPara="1" rIns="1645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2600"/>
              <a:buFont typeface="Poppins"/>
              <a:buNone/>
            </a:pPr>
            <a:r>
              <a:rPr b="1" i="0" lang="es-PE" sz="2600" u="none" cap="none" strike="noStrike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1 de cada 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150"/>
              <a:buFont typeface="Poppins"/>
              <a:buNone/>
            </a:pPr>
            <a:r>
              <a:rPr b="0" i="0" lang="es-PE" sz="115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personas en el mundo no tiene agua potable gestionada de forma segura (2024) [5]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h5239e89d27a6115a_3_66"/>
          <p:cNvSpPr txBox="1"/>
          <p:nvPr/>
        </p:nvSpPr>
        <p:spPr>
          <a:xfrm>
            <a:off x="511978" y="3947835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Poppins"/>
              <a:buNone/>
            </a:pPr>
            <a:r>
              <a:rPr b="1" i="0" lang="es-PE" sz="1200" u="none" cap="none" strike="noStrike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DEL PROBLEMA A LA PROPUESTA</a:t>
            </a:r>
            <a:endParaRPr b="0" i="0" sz="12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h5239e89d27a6115a_3_66"/>
          <p:cNvSpPr/>
          <p:nvPr/>
        </p:nvSpPr>
        <p:spPr>
          <a:xfrm>
            <a:off x="511975" y="4271450"/>
            <a:ext cx="3033900" cy="2400900"/>
          </a:xfrm>
          <a:prstGeom prst="roundRect">
            <a:avLst>
              <a:gd fmla="val 6000" name="adj"/>
            </a:avLst>
          </a:prstGeom>
          <a:solidFill>
            <a:srgbClr val="FDEEF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050"/>
              <a:buFont typeface="Poppins"/>
              <a:buNone/>
            </a:pPr>
            <a:r>
              <a:rPr b="1" i="0" lang="es-PE" sz="1050" u="none" cap="none" strike="noStrike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CAUSA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El río cambia según el tramo y la época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Arial"/>
              <a:buChar char="•"/>
            </a:pPr>
            <a:r>
              <a:rPr b="0" i="0" lang="es-PE" sz="115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Vertimientos de aguas residuales domésticas, botaderos y sequías prolongadas deterioran el río [2].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Arial"/>
              <a:buChar char="•"/>
            </a:pPr>
            <a:r>
              <a:rPr b="0" i="0" lang="es-PE" sz="115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La contaminación se concentra en el tramo bajo y es mayor en julio [2].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h5239e89d27a6115a_3_66"/>
          <p:cNvSpPr/>
          <p:nvPr/>
        </p:nvSpPr>
        <p:spPr>
          <a:xfrm>
            <a:off x="3637366" y="5094490"/>
            <a:ext cx="3108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112E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h5239e89d27a6115a_3_66"/>
          <p:cNvSpPr/>
          <p:nvPr/>
        </p:nvSpPr>
        <p:spPr>
          <a:xfrm>
            <a:off x="4039650" y="4271450"/>
            <a:ext cx="4346100" cy="2400900"/>
          </a:xfrm>
          <a:prstGeom prst="roundRect">
            <a:avLst>
              <a:gd fmla="val 6000" name="adj"/>
            </a:avLst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050"/>
              <a:buFont typeface="Poppins"/>
              <a:buNone/>
            </a:pPr>
            <a:r>
              <a:rPr b="1" i="0" lang="es-PE" sz="10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CONSECUENCIA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lang="es-P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Una dosis fija podría no ser adecuada para todas las muestras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Arial"/>
              <a:buChar char="•"/>
            </a:pPr>
            <a:r>
              <a:rPr b="0" i="0"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El Lurín es fuente de agua para Lima y su tramo bajo no cumple los ECA microbiológicos [1], [2].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Arial"/>
              <a:buChar char="•"/>
            </a:pPr>
            <a:r>
              <a:rPr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Aunque existen antecedentes con valores de turbidez para el río Lurín, estos corresponden a determinados puntos y momentos de muestreo. Por ello, mediremos la turbidez de cada muestra utilizada en el prototipo [10].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h5239e89d27a6115a_3_66"/>
          <p:cNvSpPr/>
          <p:nvPr/>
        </p:nvSpPr>
        <p:spPr>
          <a:xfrm>
            <a:off x="8443353" y="5094490"/>
            <a:ext cx="3108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112E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h5239e89d27a6115a_3_66"/>
          <p:cNvSpPr/>
          <p:nvPr/>
        </p:nvSpPr>
        <p:spPr>
          <a:xfrm>
            <a:off x="8811750" y="4271450"/>
            <a:ext cx="2791800" cy="2400900"/>
          </a:xfrm>
          <a:prstGeom prst="roundRect">
            <a:avLst>
              <a:gd fmla="val 6000" name="adj"/>
            </a:avLst>
          </a:prstGeom>
          <a:solidFill>
            <a:srgbClr val="E4F3F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050"/>
              <a:buFont typeface="Poppins"/>
              <a:buNone/>
            </a:pPr>
            <a:r>
              <a:rPr b="1" i="0" lang="es-PE" sz="1050">
                <a:solidFill>
                  <a:srgbClr val="0F7B8A"/>
                </a:solidFill>
                <a:latin typeface="Poppins"/>
                <a:ea typeface="Poppins"/>
                <a:cs typeface="Poppins"/>
                <a:sym typeface="Poppins"/>
              </a:rPr>
              <a:t>PROPUESTA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Partir del río Lurín (Pachacámac)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Arial"/>
              <a:buChar char="•"/>
            </a:pPr>
            <a:r>
              <a:rPr b="0" i="0"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Tomar muestras en distintos puntos, como en estudios previos</a:t>
            </a:r>
            <a:r>
              <a:rPr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0" i="0"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[3].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Arial"/>
              <a:buChar char="•"/>
            </a:pPr>
            <a:r>
              <a:rPr b="0" i="0"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Medir pH y turbidez y ajustar la dosis de quitosano, un biopolímero natural [6], [7].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h5239e89d27a6115a_3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24" y="123100"/>
            <a:ext cx="1844576" cy="5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5239e89d27a6115a_3_83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h5239e89d27a6115a_3_83"/>
          <p:cNvSpPr txBox="1"/>
          <p:nvPr>
            <p:ph idx="4294967295" type="title"/>
          </p:nvPr>
        </p:nvSpPr>
        <p:spPr>
          <a:xfrm>
            <a:off x="550290" y="376807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Problemática y ODS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11" name="Google Shape;111;h5239e89d27a6115a_3_83"/>
          <p:cNvSpPr/>
          <p:nvPr/>
        </p:nvSpPr>
        <p:spPr>
          <a:xfrm>
            <a:off x="550140" y="1831165"/>
            <a:ext cx="11091600" cy="960000"/>
          </a:xfrm>
          <a:prstGeom prst="roundRect">
            <a:avLst>
              <a:gd fmla="val 6000" name="adj"/>
            </a:avLst>
          </a:prstGeom>
          <a:solidFill>
            <a:srgbClr val="FDEEF0"/>
          </a:solidFill>
          <a:ln>
            <a:noFill/>
          </a:ln>
        </p:spPr>
        <p:txBody>
          <a:bodyPr anchorCtr="0" anchor="ctr" bIns="73150" lIns="228600" spcFirstLastPara="1" rIns="22860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PREGUNTA GUÍA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500"/>
              <a:buFont typeface="Poppins"/>
              <a:buNone/>
            </a:pPr>
            <a:r>
              <a:rPr b="0" i="0" lang="es-PE" sz="15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¿Cómo podemos usar tecnología y experimentación para adaptar la clarificación del agua del río Lurín (Pachacámac) a las características de cada muestra?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h5239e89d27a6115a_3_83"/>
          <p:cNvSpPr/>
          <p:nvPr/>
        </p:nvSpPr>
        <p:spPr>
          <a:xfrm>
            <a:off x="550140" y="2974165"/>
            <a:ext cx="2606100" cy="27432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2400"/>
              <a:buFont typeface="Poppins"/>
              <a:buNone/>
            </a:pPr>
            <a:r>
              <a:rPr b="0" i="0" lang="es-PE" sz="2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Agua limpia y</a:t>
            </a:r>
            <a:r>
              <a:rPr b="1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saneamiento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Poppins"/>
              <a:buNone/>
            </a:pPr>
            <a:r>
              <a:rPr b="1" i="0" lang="es-PE" sz="11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Meta 6.3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Investiga la clarificación del agua del río Lurín para reducir su turbidez y mejorar su calidad.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h5239e89d27a6115a_3_83"/>
          <p:cNvSpPr/>
          <p:nvPr/>
        </p:nvSpPr>
        <p:spPr>
          <a:xfrm>
            <a:off x="714732" y="3102181"/>
            <a:ext cx="868800" cy="310800"/>
          </a:xfrm>
          <a:prstGeom prst="roundRect">
            <a:avLst>
              <a:gd fmla="val 50000" name="adj"/>
            </a:avLst>
          </a:prstGeom>
          <a:solidFill>
            <a:srgbClr val="26BDE2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ODS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h5239e89d27a6115a_3_83"/>
          <p:cNvSpPr txBox="1"/>
          <p:nvPr/>
        </p:nvSpPr>
        <p:spPr>
          <a:xfrm>
            <a:off x="1647420" y="3102181"/>
            <a:ext cx="13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1.º · Eje principal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h5239e89d27a6115a_3_83"/>
          <p:cNvSpPr/>
          <p:nvPr/>
        </p:nvSpPr>
        <p:spPr>
          <a:xfrm>
            <a:off x="3378684" y="2974165"/>
            <a:ext cx="2606100" cy="27432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2400"/>
              <a:buFont typeface="Poppins"/>
              <a:buNone/>
            </a:pPr>
            <a:r>
              <a:rPr b="0" i="0" lang="es-PE" sz="2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Industria, innovación e infraestructura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Poppins"/>
              <a:buNone/>
            </a:pPr>
            <a:r>
              <a:rPr b="1" i="0" lang="es-PE" sz="11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Metas 9.4 · 9.5 · 9.b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Investigación experimental para hallar la dosis óptima de quitosano, integrada con sensores y automatización en un prototipo.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h5239e89d27a6115a_3_83"/>
          <p:cNvSpPr/>
          <p:nvPr/>
        </p:nvSpPr>
        <p:spPr>
          <a:xfrm>
            <a:off x="3543276" y="3102181"/>
            <a:ext cx="868800" cy="310800"/>
          </a:xfrm>
          <a:prstGeom prst="roundRect">
            <a:avLst>
              <a:gd fmla="val 50000" name="adj"/>
            </a:avLst>
          </a:prstGeom>
          <a:solidFill>
            <a:srgbClr val="F36D25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ODS 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h5239e89d27a6115a_3_83"/>
          <p:cNvSpPr txBox="1"/>
          <p:nvPr/>
        </p:nvSpPr>
        <p:spPr>
          <a:xfrm>
            <a:off x="4475964" y="3102181"/>
            <a:ext cx="13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2.º · Investigación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h5239e89d27a6115a_3_83"/>
          <p:cNvSpPr/>
          <p:nvPr/>
        </p:nvSpPr>
        <p:spPr>
          <a:xfrm>
            <a:off x="6207228" y="2974165"/>
            <a:ext cx="2606100" cy="27432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2400"/>
              <a:buFont typeface="Poppins"/>
              <a:buNone/>
            </a:pPr>
            <a:r>
              <a:rPr b="0" i="0" lang="es-PE" sz="2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Producción y consumo responsables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Poppins"/>
              <a:buNone/>
            </a:pPr>
            <a:r>
              <a:rPr b="1" i="0" lang="es-PE" sz="11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Meta 12.2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Estudia un biopolímero y optimiza la dosis para usar mejor los recursos.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h5239e89d27a6115a_3_83"/>
          <p:cNvSpPr/>
          <p:nvPr/>
        </p:nvSpPr>
        <p:spPr>
          <a:xfrm>
            <a:off x="6371820" y="3102181"/>
            <a:ext cx="868800" cy="310800"/>
          </a:xfrm>
          <a:prstGeom prst="roundRect">
            <a:avLst>
              <a:gd fmla="val 50000" name="adj"/>
            </a:avLst>
          </a:prstGeom>
          <a:solidFill>
            <a:srgbClr val="BF8B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ODS 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h5239e89d27a6115a_3_83"/>
          <p:cNvSpPr txBox="1"/>
          <p:nvPr/>
        </p:nvSpPr>
        <p:spPr>
          <a:xfrm>
            <a:off x="7304508" y="3102181"/>
            <a:ext cx="13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3.º · Sostenibilidad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h5239e89d27a6115a_3_83"/>
          <p:cNvSpPr/>
          <p:nvPr/>
        </p:nvSpPr>
        <p:spPr>
          <a:xfrm>
            <a:off x="9035772" y="2974165"/>
            <a:ext cx="2606100" cy="27432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2400"/>
              <a:buFont typeface="Poppins"/>
              <a:buNone/>
            </a:pPr>
            <a:r>
              <a:rPr b="0" i="0" lang="es-PE" sz="2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Acción por el clima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Poppins"/>
              <a:buNone/>
            </a:pPr>
            <a:r>
              <a:rPr b="1" i="0" lang="es-PE" sz="11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Meta 13.2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Relación indirecta: diseño tecnológico que considera eficiencia y sostenibilidad.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h5239e89d27a6115a_3_83"/>
          <p:cNvSpPr/>
          <p:nvPr/>
        </p:nvSpPr>
        <p:spPr>
          <a:xfrm>
            <a:off x="9200364" y="3102181"/>
            <a:ext cx="868800" cy="310800"/>
          </a:xfrm>
          <a:prstGeom prst="roundRect">
            <a:avLst>
              <a:gd fmla="val 50000" name="adj"/>
            </a:avLst>
          </a:prstGeom>
          <a:solidFill>
            <a:srgbClr val="3F7E44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ODS 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h5239e89d27a6115a_3_83"/>
          <p:cNvSpPr txBox="1"/>
          <p:nvPr/>
        </p:nvSpPr>
        <p:spPr>
          <a:xfrm>
            <a:off x="10133052" y="3102181"/>
            <a:ext cx="13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Complementario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h5239e89d27a6115a_3_83"/>
          <p:cNvSpPr/>
          <p:nvPr/>
        </p:nvSpPr>
        <p:spPr>
          <a:xfrm>
            <a:off x="550140" y="5854525"/>
            <a:ext cx="11091600" cy="567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201150" spcFirstLastPara="1" rIns="201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Alcance: </a:t>
            </a: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se parte de muestras del río Lurín en Pachacámac (distintos puntos</a:t>
            </a: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; el prototipo estudia la clarificación y no produce por sí solo agua potable. Marco: Agenda 2030 [8] y ECA-Agua [9].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h5239e89d27a6115a_3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24" y="123100"/>
            <a:ext cx="1844576" cy="5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h5239e89d27a6115a_3_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3163" y="4684950"/>
            <a:ext cx="960073" cy="96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h5239e89d27a6115a_3_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4450" y="4851976"/>
            <a:ext cx="793075" cy="7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h5239e89d27a6115a_3_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0225" y="4793825"/>
            <a:ext cx="960051" cy="720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h5239e89d27a6115a_3_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58763" y="4612675"/>
            <a:ext cx="960050" cy="9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>
            <p:ph idx="4294967295" type="title"/>
          </p:nvPr>
        </p:nvSpPr>
        <p:spPr>
          <a:xfrm>
            <a:off x="633015" y="474232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Lista de requerimientos: funcionales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633015" y="1736919"/>
            <a:ext cx="1109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25 exigencias en total: 22 obligatorias (E) y 3 deseables (D). Estas definen qué debe hacer el sistema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48615" y="2341050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Función principal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Clarificar agua natural dosificando quitosano de forma controlada, de la medición inicial a la evaluación final.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13207" y="2459922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1115543" y="2459922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M.A.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297655" y="2341050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Señales de entrada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Medir pH y turbidez antes del tratamiento y la turbidez al final, disponibles para el control y el registro.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462247" y="2459922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4864583" y="2459922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L.U.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046695" y="2341050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Determinación de dosis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Calcular la dosis con pH, turbidez y datos experimentales; no se asume una fórmula universal.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211287" y="2459922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613623" y="2459922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M.A.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48615" y="4535610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Dosificación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Bomba o mecanismo que suministre la solución de quitosano en la cantidad definida por el control.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13207" y="4654482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1115543" y="4654482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B.C.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297655" y="4535610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Control secuencial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Ejecutar en orden medición, dosis, dosificación, agitación, sedimentación y medición final.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462247" y="4654482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4864583" y="4654482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I.P.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046695" y="4535610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Monitoreo y registro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Mostrar pH, turbidez y estado del proceso, y registrar los datos de cada ensayo para su análisis.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211287" y="4654482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8613623" y="4654482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G.M.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>
            <p:ph idx="4294967295" type="title"/>
          </p:nvPr>
        </p:nvSpPr>
        <p:spPr>
          <a:xfrm>
            <a:off x="550165" y="474282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Lista de requerimientos: técnicos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550315" y="1708119"/>
            <a:ext cx="1109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Poppins"/>
              <a:buNone/>
            </a:pPr>
            <a:r>
              <a:rPr b="0" i="0" lang="es-PE" sz="1300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Condiciones de energía, hardware, software, mecánica y fabricación que hacen posible el prototipo</a:t>
            </a:r>
            <a:endParaRPr b="0" i="0" sz="13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50265" y="2283525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Energía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Fuente segura y estable para el microcontrolador, los sensores, la bomba y el motor de agitación.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14857" y="240239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1117193" y="2402397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B.C.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299305" y="2283525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Electrónica (hardware)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Microcontrolador que lea los sensores de pH y turbidez y controle los actuadores del sistema.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463897" y="240239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4866233" y="2402397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B.C.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048345" y="2283525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Programa que procese las mediciones, calcule la dosis, ejecute la secuencia y registre los datos.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212937" y="240239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8615273" y="2402397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G.M.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50265" y="4478085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Agitación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Velocidad configurable desde el control; motor y mecanismo elegidos según recipiente y fluido.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14857" y="459695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1117193" y="4596957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B.C. / M.A.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299305" y="4478085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Geometría y montaje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Estructura compacta y modular: tratamiento, dosificación, agitación, electrónica y software.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463897" y="459695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4866233" y="4596957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L.U. / G.M.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048345" y="4478085"/>
            <a:ext cx="35937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Fabricación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Piezas fabricables con métodos disponibles (convencional o impresión 3D) y componentes reemplazables.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212937" y="459695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8615273" y="4596957"/>
            <a:ext cx="28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B.C.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>
            <p:ph idx="4294967295" type="title"/>
          </p:nvPr>
        </p:nvSpPr>
        <p:spPr>
          <a:xfrm>
            <a:off x="550190" y="474157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Lista de requerimientos: calidad y uso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550265" y="1657494"/>
            <a:ext cx="1109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Seguridad, operación, mantenimiento y gestión del proyecto (D = deseable)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50265" y="2182275"/>
            <a:ext cx="26061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Seguridad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Evitar contacto con partes eléctricas y móviles; protección ante salpicaduras y paro seguro.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714857" y="230114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1117193" y="2301147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M.A.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378809" y="2182275"/>
            <a:ext cx="26061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Mantenimiento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Reactor, sensores y dosificador fáciles de limpiar para evitar contaminación cruzada.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543401" y="230114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3945737" y="2301147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G.M.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207353" y="2182275"/>
            <a:ext cx="26061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Control de calidad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Comparar turbidez inicial y final; registrar pH inicial y dosis usada en cada ensayo.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371945" y="230114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774281" y="2301147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M.A.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9035897" y="2182275"/>
            <a:ext cx="26061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Ergonomía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Colocar la muestra, iniciar, supervisar y retirar con facilidad; interfaz clara.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200489" y="230114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9602825" y="2301147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L.U.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50265" y="4376835"/>
            <a:ext cx="26061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Transporte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Trasladable apagado, desconectado y sin líquido, con estructura que proteja los componentes.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14857" y="449570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117193" y="4495707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L.U.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378809" y="4376835"/>
            <a:ext cx="26061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Comunicaciones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Transmitir datos por red inalámbrica o cableada, según viabilidad técnica y tiempo.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543401" y="449570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0F7B8A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3945737" y="4495707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I.P.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207353" y="4376835"/>
            <a:ext cx="26061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Uso en laboratorio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Pruebas experimentales con instrucciones de preparación, inicio, supervisión y cierre.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371945" y="4495707"/>
            <a:ext cx="329100" cy="255900"/>
          </a:xfrm>
          <a:prstGeom prst="roundRect">
            <a:avLst>
              <a:gd fmla="val 50000" name="adj"/>
            </a:avLst>
          </a:prstGeom>
          <a:solidFill>
            <a:srgbClr val="0F7B8A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774281" y="4495707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I.P.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9035897" y="4376835"/>
            <a:ext cx="2606100" cy="20118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28575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800"/>
              <a:buFont typeface="Poppins"/>
              <a:buNone/>
            </a:pPr>
            <a:r>
              <a:rPr b="0" i="0" lang="es-PE" sz="18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Costos y plazos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 u="none" cap="none" strike="noStrik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Dentro del presupuesto y del cronograma del curso, con registro de materiales.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9200489" y="4495707"/>
            <a:ext cx="658500" cy="255900"/>
          </a:xfrm>
          <a:prstGeom prst="roundRect">
            <a:avLst>
              <a:gd fmla="val 50000" name="adj"/>
            </a:avLst>
          </a:prstGeom>
          <a:solidFill>
            <a:srgbClr val="0F7B8A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 / 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9602825" y="4495707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1" i="0" lang="es-PE" sz="1000" u="none" cap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Resp. I.P.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>
            <p:ph idx="4294967295" type="title"/>
          </p:nvPr>
        </p:nvSpPr>
        <p:spPr>
          <a:xfrm>
            <a:off x="550165" y="421682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CAJA NEGRA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20150" y="1818525"/>
            <a:ext cx="6287700" cy="4582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85200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ja negra del sistema automatizado de clarificación de agua con quitosano: entradas y salidas con leyenda" id="221" name="Google Shape;2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75" y="1909975"/>
            <a:ext cx="6051601" cy="431834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 txBox="1"/>
          <p:nvPr/>
        </p:nvSpPr>
        <p:spPr>
          <a:xfrm>
            <a:off x="7241700" y="5850325"/>
            <a:ext cx="4400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b="0" i="0" lang="es-PE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Flechas: materia (hueca) · energía (continua) · señal o información (punteada)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085025" y="1909975"/>
            <a:ext cx="4587000" cy="1783200"/>
          </a:xfrm>
          <a:prstGeom prst="roundRect">
            <a:avLst>
              <a:gd fmla="val 6000" name="adj"/>
            </a:avLst>
          </a:prstGeom>
          <a:solidFill>
            <a:srgbClr val="FDEEF0"/>
          </a:solidFill>
          <a:ln>
            <a:noFill/>
          </a:ln>
        </p:spPr>
        <p:txBody>
          <a:bodyPr anchorCtr="0" anchor="t" bIns="91425" lIns="201150" spcFirstLastPara="1" rIns="1828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ENTRADAS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Materia: </a:t>
            </a: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agua turbia, solución de quitosano y agua destilada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Energía: </a:t>
            </a: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energía eléctrica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Señal: </a:t>
            </a: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encendido y apagado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7115174" y="3880150"/>
            <a:ext cx="4526700" cy="1783200"/>
          </a:xfrm>
          <a:prstGeom prst="roundRect">
            <a:avLst>
              <a:gd fmla="val 6000" name="adj"/>
            </a:avLst>
          </a:prstGeom>
          <a:solidFill>
            <a:srgbClr val="E4F3F5"/>
          </a:solidFill>
          <a:ln>
            <a:noFill/>
          </a:ln>
        </p:spPr>
        <p:txBody>
          <a:bodyPr anchorCtr="0" anchor="t" bIns="91425" lIns="201150" spcFirstLastPara="1" rIns="1828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0F7B8A"/>
                </a:solidFill>
                <a:latin typeface="Poppins"/>
                <a:ea typeface="Poppins"/>
                <a:cs typeface="Poppins"/>
                <a:sym typeface="Poppins"/>
              </a:rPr>
              <a:t>SALIDAS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7B8A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0F7B8A"/>
                </a:solidFill>
                <a:latin typeface="Poppins"/>
                <a:ea typeface="Poppins"/>
                <a:cs typeface="Poppins"/>
                <a:sym typeface="Poppins"/>
              </a:rPr>
              <a:t>Materia: </a:t>
            </a: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agua clarificada y lodos sedimentados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7B8A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0F7B8A"/>
                </a:solidFill>
                <a:latin typeface="Poppins"/>
                <a:ea typeface="Poppins"/>
                <a:cs typeface="Poppins"/>
                <a:sym typeface="Poppins"/>
              </a:rPr>
              <a:t>Señal: </a:t>
            </a: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estado y valores del proceso (LCD), señal sonora y datos o notificaciones por Wi-Fi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>
            <p:ph type="title"/>
          </p:nvPr>
        </p:nvSpPr>
        <p:spPr>
          <a:xfrm>
            <a:off x="415750" y="512642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Esquema de funciones: visión general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descr="Esquema de funciones del sistema de dosificación automática de quitosano con seis módulos"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250" y="1727775"/>
            <a:ext cx="8183752" cy="4678725"/>
          </a:xfrm>
          <a:prstGeom prst="rect">
            <a:avLst/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233" name="Google Shape;233;p9"/>
          <p:cNvSpPr/>
          <p:nvPr/>
        </p:nvSpPr>
        <p:spPr>
          <a:xfrm>
            <a:off x="8695470" y="1808497"/>
            <a:ext cx="3189300" cy="676800"/>
          </a:xfrm>
          <a:prstGeom prst="roundRect">
            <a:avLst>
              <a:gd fmla="val 6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18275" lIns="5669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Materia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Poppins"/>
              <a:buNone/>
            </a:pPr>
            <a:r>
              <a:rPr b="0" i="0" lang="es-PE" sz="11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recorrido del agua y del quitosano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823499" y="1964146"/>
            <a:ext cx="365700" cy="365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695470" y="2576594"/>
            <a:ext cx="3189300" cy="676800"/>
          </a:xfrm>
          <a:prstGeom prst="roundRect">
            <a:avLst>
              <a:gd fmla="val 6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18275" lIns="5669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Mecánica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Poppins"/>
              <a:buNone/>
            </a:pPr>
            <a:r>
              <a:rPr b="0" i="0" lang="es-PE" sz="11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bombas, agitador y válvula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8823486" y="2732042"/>
            <a:ext cx="365700" cy="365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8695470" y="3344689"/>
            <a:ext cx="3189300" cy="676800"/>
          </a:xfrm>
          <a:prstGeom prst="roundRect">
            <a:avLst>
              <a:gd fmla="val 6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18275" lIns="5669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Eléctrica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Poppins"/>
              <a:buNone/>
            </a:pPr>
            <a:r>
              <a:rPr b="0" i="0" lang="es-PE" sz="11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acondiciona la energía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823486" y="3500138"/>
            <a:ext cx="365700" cy="365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8695470" y="4112786"/>
            <a:ext cx="3189300" cy="676800"/>
          </a:xfrm>
          <a:prstGeom prst="roundRect">
            <a:avLst>
              <a:gd fmla="val 6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18275" lIns="5669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Adquisición de señales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Poppins"/>
              <a:buNone/>
            </a:pPr>
            <a:r>
              <a:rPr b="0" i="0" lang="es-PE" sz="11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sensa pH, turbidez y nivel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8823486" y="4268234"/>
            <a:ext cx="365700" cy="365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695470" y="4880882"/>
            <a:ext cx="3189300" cy="676800"/>
          </a:xfrm>
          <a:prstGeom prst="roundRect">
            <a:avLst>
              <a:gd fmla="val 6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18275" lIns="5669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Procesamiento y control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Poppins"/>
              <a:buNone/>
            </a:pPr>
            <a:r>
              <a:rPr b="0" i="0" lang="es-PE" sz="11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calcula la dosis y ordena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823486" y="5036330"/>
            <a:ext cx="365700" cy="365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695470" y="5648978"/>
            <a:ext cx="3189300" cy="676800"/>
          </a:xfrm>
          <a:prstGeom prst="roundRect">
            <a:avLst>
              <a:gd fmla="val 6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18275" lIns="5669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Comunicación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Poppins"/>
              <a:buNone/>
            </a:pPr>
            <a:r>
              <a:rPr b="0" i="0" lang="es-PE" sz="11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muestra y transmite resultados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8823486" y="5804426"/>
            <a:ext cx="365700" cy="365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5239e89d27a6115a_3_101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h5239e89d27a6115a_3_101"/>
          <p:cNvSpPr txBox="1"/>
          <p:nvPr>
            <p:ph idx="4294967295" type="title"/>
          </p:nvPr>
        </p:nvSpPr>
        <p:spPr>
          <a:xfrm>
            <a:off x="550290" y="441569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Esquema de funciones: entradas y salidas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aphicFrame>
        <p:nvGraphicFramePr>
          <p:cNvPr id="252" name="Google Shape;252;h5239e89d27a6115a_3_101"/>
          <p:cNvGraphicFramePr/>
          <p:nvPr/>
        </p:nvGraphicFramePr>
        <p:xfrm>
          <a:off x="548640" y="1710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{84B226AC-CAD4-465F-99F7-B25A05D7D46E}</a:tableStyleId>
              </a:tblPr>
              <a:tblGrid>
                <a:gridCol w="2743200"/>
                <a:gridCol w="5760725"/>
                <a:gridCol w="25877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Caja negra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Función que lo resuelve en el esquema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Módulo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</a:tr>
              <a:tr h="3246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200">
                          <a:solidFill>
                            <a:srgbClr val="E311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ENTRADAS</a:t>
                      </a:r>
                      <a:endParaRPr sz="1200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E9"/>
                    </a:solidFill>
                  </a:tcPr>
                </a:tc>
                <a:tc hMerge="1"/>
                <a:tc hMerge="1"/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Agua turbia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Recibir el agua del bidón y transportarla al reactor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Materia · Mecánica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de quitosano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Inyectar y dosificar la solución de quitosano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Materia · Mecánica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Agua destilada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Limpiar el reactor con agua destilada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Mecánica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Energía eléctrica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Acondicionar energía para sensores, bomba, agitador y control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Eléctrica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Encendido y apagado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Determinar el estado del sistema (sin flecha propia en el esquema)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Procesamiento y control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200">
                          <a:solidFill>
                            <a:srgbClr val="0F7B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SALIDAS</a:t>
                      </a:r>
                      <a:endParaRPr sz="1200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3F5"/>
                    </a:solidFill>
                  </a:tcPr>
                </a:tc>
                <a:tc hMerge="1"/>
                <a:tc hMerge="1"/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Agua clarificada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Extraer el agua clarificada (fase superior)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Materia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Lodos sedimentados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Purgar lodo y grumos (fase inferior)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Materia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Estado y valores (LCD)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Emitir la señal visual del estado en la pantalla LCD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Comunicación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Señal sonora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Emitir la señal sonora de aviso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Comunicación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Datos y avisos (Wi-Fi)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Transmitir por Wi-Fi, registrar y notificar al usuario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0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Comunicación</a:t>
                      </a:r>
                      <a:endParaRPr sz="115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h5239e89d27a6115a_3_101"/>
          <p:cNvSpPr/>
          <p:nvPr/>
        </p:nvSpPr>
        <p:spPr>
          <a:xfrm>
            <a:off x="548640" y="6081400"/>
            <a:ext cx="11091600" cy="457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27425" lIns="182875" spcFirstLastPara="1" rIns="18287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Poppins"/>
              <a:buNone/>
            </a:pPr>
            <a:r>
              <a:rPr b="1" i="0" lang="es-PE" sz="11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Resultado: </a:t>
            </a:r>
            <a:r>
              <a:rPr b="0" i="0"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las entradas y salidas de la caja negra aparecen todas en el esquema; solo la señal de encendido actúa dentro del control.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h5239e89d27a6115a_3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5239e89d27a6115a_3_107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h5239e89d27a6115a_3_107"/>
          <p:cNvSpPr txBox="1"/>
          <p:nvPr>
            <p:ph idx="4294967295" type="title"/>
          </p:nvPr>
        </p:nvSpPr>
        <p:spPr>
          <a:xfrm>
            <a:off x="1640225" y="202350"/>
            <a:ext cx="89085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2880"/>
              <a:buFont typeface="Poppins"/>
              <a:buNone/>
            </a:pPr>
            <a:r>
              <a:rPr b="1" lang="es-PE" sz="373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Esquema de funciones: módulos e interacción</a:t>
            </a:r>
            <a:endParaRPr b="1" sz="373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1" name="Google Shape;261;h5239e89d27a6115a_3_107"/>
          <p:cNvSpPr/>
          <p:nvPr/>
        </p:nvSpPr>
        <p:spPr>
          <a:xfrm>
            <a:off x="550240" y="1765060"/>
            <a:ext cx="2377500" cy="21945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82875" spcFirstLastPara="1" rIns="137150" wrap="square" tIns="566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Sensa pH, turbidez y nivel; acondiciona y digitaliza las señales.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050"/>
              <a:buFont typeface="Poppins"/>
              <a:buNone/>
            </a:pPr>
            <a:r>
              <a:rPr b="1" i="0" lang="es-PE" sz="10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Exigencias: </a:t>
            </a: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Señales de entrada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h5239e89d27a6115a_3_107"/>
          <p:cNvSpPr/>
          <p:nvPr/>
        </p:nvSpPr>
        <p:spPr>
          <a:xfrm>
            <a:off x="696544" y="1893076"/>
            <a:ext cx="365700" cy="3657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h5239e89d27a6115a_3_107"/>
          <p:cNvSpPr txBox="1"/>
          <p:nvPr/>
        </p:nvSpPr>
        <p:spPr>
          <a:xfrm>
            <a:off x="1153744" y="1874788"/>
            <a:ext cx="164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Adquisición de señales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h5239e89d27a6115a_3_107"/>
          <p:cNvSpPr/>
          <p:nvPr/>
        </p:nvSpPr>
        <p:spPr>
          <a:xfrm>
            <a:off x="2964256" y="2405140"/>
            <a:ext cx="4542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112E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h5239e89d27a6115a_3_107"/>
          <p:cNvSpPr/>
          <p:nvPr/>
        </p:nvSpPr>
        <p:spPr>
          <a:xfrm>
            <a:off x="3454984" y="1765060"/>
            <a:ext cx="2377500" cy="21945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82875" spcFirstLastPara="1" rIns="137150" wrap="square" tIns="566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Evalúa los datos, consulta la relación experimental, calcula la dosis y ordena a los actuadores.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050"/>
              <a:buFont typeface="Poppins"/>
              <a:buNone/>
            </a:pPr>
            <a:r>
              <a:rPr b="1" i="0" lang="es-PE" sz="10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Exigencias: </a:t>
            </a: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Determinación de dosis · Control secuencial · Software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h5239e89d27a6115a_3_107"/>
          <p:cNvSpPr/>
          <p:nvPr/>
        </p:nvSpPr>
        <p:spPr>
          <a:xfrm>
            <a:off x="3601288" y="1893076"/>
            <a:ext cx="365700" cy="3657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h5239e89d27a6115a_3_107"/>
          <p:cNvSpPr txBox="1"/>
          <p:nvPr/>
        </p:nvSpPr>
        <p:spPr>
          <a:xfrm>
            <a:off x="4058488" y="1874788"/>
            <a:ext cx="164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Procesamiento y control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h5239e89d27a6115a_3_107"/>
          <p:cNvSpPr/>
          <p:nvPr/>
        </p:nvSpPr>
        <p:spPr>
          <a:xfrm>
            <a:off x="5869000" y="2405140"/>
            <a:ext cx="4542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112E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h5239e89d27a6115a_3_107"/>
          <p:cNvSpPr/>
          <p:nvPr/>
        </p:nvSpPr>
        <p:spPr>
          <a:xfrm>
            <a:off x="6359728" y="1765060"/>
            <a:ext cx="2377500" cy="21945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82875" spcFirstLastPara="1" rIns="137150" wrap="square" tIns="566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Bombea el agua, dosifica el quitosano, agita, abre la válvula y limpia el reactor.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050"/>
              <a:buFont typeface="Poppins"/>
              <a:buNone/>
            </a:pPr>
            <a:r>
              <a:rPr b="1" i="0" lang="es-PE" sz="10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Exigencias: </a:t>
            </a: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Dosificación · Agitación · Seguridad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h5239e89d27a6115a_3_107"/>
          <p:cNvSpPr/>
          <p:nvPr/>
        </p:nvSpPr>
        <p:spPr>
          <a:xfrm>
            <a:off x="6506032" y="1893076"/>
            <a:ext cx="365700" cy="3657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h5239e89d27a6115a_3_107"/>
          <p:cNvSpPr txBox="1"/>
          <p:nvPr/>
        </p:nvSpPr>
        <p:spPr>
          <a:xfrm>
            <a:off x="6963232" y="1874788"/>
            <a:ext cx="164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Mecánica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h5239e89d27a6115a_3_107"/>
          <p:cNvSpPr/>
          <p:nvPr/>
        </p:nvSpPr>
        <p:spPr>
          <a:xfrm>
            <a:off x="8773744" y="2405140"/>
            <a:ext cx="4542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3112E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h5239e89d27a6115a_3_107"/>
          <p:cNvSpPr/>
          <p:nvPr/>
        </p:nvSpPr>
        <p:spPr>
          <a:xfrm>
            <a:off x="9264472" y="1765060"/>
            <a:ext cx="2377500" cy="21945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82875" spcFirstLastPara="1" rIns="137150" wrap="square" tIns="566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Recibe el agua, mezcla, flocula, sedimenta y separa agua clarificada y lodos.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050"/>
              <a:buFont typeface="Poppins"/>
              <a:buNone/>
            </a:pPr>
            <a:r>
              <a:rPr b="1" i="0" lang="es-PE" sz="10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Exigencias: </a:t>
            </a: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Función principal · Control de calidad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h5239e89d27a6115a_3_107"/>
          <p:cNvSpPr/>
          <p:nvPr/>
        </p:nvSpPr>
        <p:spPr>
          <a:xfrm>
            <a:off x="9410776" y="1893076"/>
            <a:ext cx="365700" cy="3657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h5239e89d27a6115a_3_107"/>
          <p:cNvSpPr txBox="1"/>
          <p:nvPr/>
        </p:nvSpPr>
        <p:spPr>
          <a:xfrm>
            <a:off x="9867976" y="1874788"/>
            <a:ext cx="164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Materia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h5239e89d27a6115a_3_107"/>
          <p:cNvSpPr txBox="1"/>
          <p:nvPr/>
        </p:nvSpPr>
        <p:spPr>
          <a:xfrm>
            <a:off x="2927680" y="2816620"/>
            <a:ext cx="52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Poppins"/>
              <a:buNone/>
            </a:pPr>
            <a:r>
              <a:rPr b="1" i="0" lang="es-PE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señales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h5239e89d27a6115a_3_107"/>
          <p:cNvSpPr txBox="1"/>
          <p:nvPr/>
        </p:nvSpPr>
        <p:spPr>
          <a:xfrm>
            <a:off x="5832424" y="2816620"/>
            <a:ext cx="52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Poppins"/>
              <a:buNone/>
            </a:pPr>
            <a:r>
              <a:rPr b="1" i="0" lang="es-PE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órdenes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h5239e89d27a6115a_3_107"/>
          <p:cNvSpPr txBox="1"/>
          <p:nvPr/>
        </p:nvSpPr>
        <p:spPr>
          <a:xfrm>
            <a:off x="8737168" y="2816620"/>
            <a:ext cx="52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Poppins"/>
              <a:buNone/>
            </a:pPr>
            <a:r>
              <a:rPr b="1" i="0" lang="es-PE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h5239e89d27a6115a_3_107"/>
          <p:cNvSpPr/>
          <p:nvPr/>
        </p:nvSpPr>
        <p:spPr>
          <a:xfrm>
            <a:off x="548603" y="4390940"/>
            <a:ext cx="2377500" cy="20574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82875" spcFirstLastPara="1" rIns="137150" wrap="square" tIns="566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Acondiciona la energía para sensores, bomba, agitador, controlador y pantalla.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050"/>
              <a:buFont typeface="Poppins"/>
              <a:buNone/>
            </a:pPr>
            <a:r>
              <a:rPr b="1" i="0" lang="es-PE" sz="10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Exigencias: </a:t>
            </a: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Energía · Seguridad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h5239e89d27a6115a_3_107"/>
          <p:cNvSpPr/>
          <p:nvPr/>
        </p:nvSpPr>
        <p:spPr>
          <a:xfrm>
            <a:off x="694906" y="4518956"/>
            <a:ext cx="365700" cy="3657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h5239e89d27a6115a_3_107"/>
          <p:cNvSpPr txBox="1"/>
          <p:nvPr/>
        </p:nvSpPr>
        <p:spPr>
          <a:xfrm>
            <a:off x="1152107" y="4500668"/>
            <a:ext cx="164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Eléctrica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h5239e89d27a6115a_3_107"/>
          <p:cNvSpPr/>
          <p:nvPr/>
        </p:nvSpPr>
        <p:spPr>
          <a:xfrm>
            <a:off x="3453346" y="4390940"/>
            <a:ext cx="2377500" cy="20574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82875" spcFirstLastPara="1" rIns="137150" wrap="square" tIns="566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Muestra</a:t>
            </a: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señales visuales</a:t>
            </a: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, avis</a:t>
            </a: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con sonido, envía datos por Wi-Fi y notifica al usuario.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050"/>
              <a:buFont typeface="Poppins"/>
              <a:buNone/>
            </a:pPr>
            <a:r>
              <a:rPr b="1" i="0" lang="es-PE" sz="10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Exigencias: </a:t>
            </a: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Monitoreo y registro · Comunicaciones (D)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h5239e89d27a6115a_3_107"/>
          <p:cNvSpPr/>
          <p:nvPr/>
        </p:nvSpPr>
        <p:spPr>
          <a:xfrm>
            <a:off x="3599650" y="4518956"/>
            <a:ext cx="365700" cy="3657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h5239e89d27a6115a_3_107"/>
          <p:cNvSpPr txBox="1"/>
          <p:nvPr/>
        </p:nvSpPr>
        <p:spPr>
          <a:xfrm>
            <a:off x="4056851" y="4500668"/>
            <a:ext cx="164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Comunicación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h5239e89d27a6115a_3_107"/>
          <p:cNvSpPr/>
          <p:nvPr/>
        </p:nvSpPr>
        <p:spPr>
          <a:xfrm>
            <a:off x="1583500" y="4006010"/>
            <a:ext cx="310800" cy="337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F7B8A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h5239e89d27a6115a_3_107"/>
          <p:cNvSpPr/>
          <p:nvPr/>
        </p:nvSpPr>
        <p:spPr>
          <a:xfrm>
            <a:off x="4488249" y="4006010"/>
            <a:ext cx="310800" cy="33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3112E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h5239e89d27a6115a_3_107"/>
          <p:cNvSpPr txBox="1"/>
          <p:nvPr/>
        </p:nvSpPr>
        <p:spPr>
          <a:xfrm>
            <a:off x="1967549" y="3977896"/>
            <a:ext cx="12801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Poppins"/>
              <a:buNone/>
            </a:pPr>
            <a:r>
              <a:rPr b="1" i="0" lang="es-PE" sz="8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energía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h5239e89d27a6115a_3_107"/>
          <p:cNvSpPr txBox="1"/>
          <p:nvPr/>
        </p:nvSpPr>
        <p:spPr>
          <a:xfrm>
            <a:off x="4872298" y="3977896"/>
            <a:ext cx="12801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Poppins"/>
              <a:buNone/>
            </a:pPr>
            <a:r>
              <a:rPr b="1" i="0" lang="es-PE" sz="8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estado y datos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h5239e89d27a6115a_3_107"/>
          <p:cNvSpPr/>
          <p:nvPr/>
        </p:nvSpPr>
        <p:spPr>
          <a:xfrm>
            <a:off x="6272747" y="4390940"/>
            <a:ext cx="5367600" cy="2057400"/>
          </a:xfrm>
          <a:prstGeom prst="roundRect">
            <a:avLst>
              <a:gd fmla="val 6000" name="adj"/>
            </a:avLst>
          </a:prstGeom>
          <a:solidFill>
            <a:srgbClr val="E4F3F5"/>
          </a:solidFill>
          <a:ln>
            <a:noFill/>
          </a:ln>
        </p:spPr>
        <p:txBody>
          <a:bodyPr anchorCtr="0" anchor="t" bIns="54850" lIns="201150" spcFirstLastPara="1" rIns="164575" wrap="square" tIns="1097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250"/>
              <a:buFont typeface="Poppins"/>
              <a:buNone/>
            </a:pPr>
            <a:r>
              <a:rPr b="1" i="0" lang="es-PE" sz="1250">
                <a:solidFill>
                  <a:srgbClr val="0F7B8A"/>
                </a:solidFill>
                <a:latin typeface="Poppins"/>
                <a:ea typeface="Poppins"/>
                <a:cs typeface="Poppins"/>
                <a:sym typeface="Poppins"/>
              </a:rPr>
              <a:t>Retroalimentación y relación con los requerimientos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Arial"/>
              <a:buChar char="•"/>
            </a:pPr>
            <a:r>
              <a:rPr b="0" i="0"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Tras sedimentar, los sensores miden otra vez; el control compara con los valores iniciales y registra el resultado.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Arial"/>
              <a:buChar char="•"/>
            </a:pPr>
            <a:r>
              <a:rPr b="0" i="0"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Cada módulo cumple exigencias de la lista: sensado, dosis, dosificación, agitación, seguridad y registro.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Arial"/>
              <a:buChar char="•"/>
            </a:pPr>
            <a:r>
              <a:rPr b="0" i="0"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El monitoreo y registro (E) se resuelve en Comunicación; la transmisión inalámbrica atiende la deseable (D).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f658c465484e9ad_0_0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hf658c465484e9ad_0_0"/>
          <p:cNvSpPr txBox="1"/>
          <p:nvPr>
            <p:ph idx="4294967295" type="title"/>
          </p:nvPr>
        </p:nvSpPr>
        <p:spPr>
          <a:xfrm>
            <a:off x="550290" y="438032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Matriz morfológica: alternativas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aphicFrame>
        <p:nvGraphicFramePr>
          <p:cNvPr id="296" name="Google Shape;296;hf658c465484e9ad_0_0"/>
          <p:cNvGraphicFramePr/>
          <p:nvPr/>
        </p:nvGraphicFramePr>
        <p:xfrm>
          <a:off x="548590" y="1869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{84B226AC-CAD4-465F-99F7-B25A05D7D46E}</a:tableStyleId>
              </a:tblPr>
              <a:tblGrid>
                <a:gridCol w="1394550"/>
                <a:gridCol w="3379100"/>
                <a:gridCol w="3220300"/>
                <a:gridCol w="3097750"/>
              </a:tblGrid>
              <a:tr h="58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Subsistema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1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Económica y sencilla</a:t>
                      </a:r>
                      <a:endParaRPr sz="10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2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Equilibrada</a:t>
                      </a:r>
                      <a:endParaRPr sz="10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3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Más robusta</a:t>
                      </a:r>
                      <a:endParaRPr sz="10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</a:tr>
              <a:tr h="190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Energía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T1 – T5</a:t>
                      </a:r>
                      <a:endParaRPr sz="10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Batería de litio 3,7/5 V · interruptor deslizante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Convertidor DC-DC tipo buck 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Regulador LDO 5V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Regulador 5 V dedicado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Conexión directa · interruptor basculante ·  Convertidor DC-DC tipo buck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Regulador LDO 5V 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Regulador 5 V dedicado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Conexión directa · interruptor basculante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Fuente conmutada (switching)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 step-down regulado · DC-DC aislado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Procesamiento y sensado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T6 – T9</a:t>
                      </a:r>
                      <a:endParaRPr sz="10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ESP32 · turbidez 0–1000 NTU · pH con electrodo de vidrio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 Sensor de Nivel de Agua Vertical (Plastico)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ESP32 · T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urbidez 0–1000 NTU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 pH con sonda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Sensor capacitivo sin contacto XKC-Y25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ESP32 · turbidez nefelométric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pH de estado sólido (ISFET)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Control eléctrico de nivel de agua/Boya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hf658c465484e9ad_0_0"/>
          <p:cNvSpPr txBox="1"/>
          <p:nvPr/>
        </p:nvSpPr>
        <p:spPr>
          <a:xfrm>
            <a:off x="548590" y="6231128"/>
            <a:ext cx="1109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Poppins"/>
              <a:buNone/>
            </a:pP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19 funciones (T1–T19) · el ESP32 es el controlador común · metodología VDI 2206 [8]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hf658c465484e9a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075" y="3006875"/>
            <a:ext cx="908349" cy="817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hf658c465484e9a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0812" y="3099636"/>
            <a:ext cx="797701" cy="6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hf658c465484e9a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3900" y="3028587"/>
            <a:ext cx="908350" cy="7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hf658c465484e9ad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5425" y="3679650"/>
            <a:ext cx="629329" cy="63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hf658c465484e9ad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8526" y="3683570"/>
            <a:ext cx="629325" cy="623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hf658c465484e9ad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58013" y="3099625"/>
            <a:ext cx="908350" cy="7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hf658c465484e9a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2275" y="3099637"/>
            <a:ext cx="908350" cy="7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hf658c465484e9ad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2600" y="3679650"/>
            <a:ext cx="629329" cy="63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hf658c465484e9ad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04876" y="3738395"/>
            <a:ext cx="629325" cy="623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hf658c465484e9ad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702125" y="3050755"/>
            <a:ext cx="797724" cy="729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hf658c465484e9ad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63550" y="3028587"/>
            <a:ext cx="908350" cy="7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hf658c465484e9ad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14888" y="3184917"/>
            <a:ext cx="797724" cy="729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hf658c465484e9ad_0_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35600" y="3040536"/>
            <a:ext cx="797700" cy="749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hf658c465484e9ad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303451" y="3678723"/>
            <a:ext cx="629325" cy="63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hf658c465484e9ad_0_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208050" y="3749675"/>
            <a:ext cx="1028000" cy="4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hf658c465484e9ad_0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23650" y="4951862"/>
            <a:ext cx="1028001" cy="63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hf658c465484e9ad_0_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574751" y="4840275"/>
            <a:ext cx="908351" cy="857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hf658c465484e9ad_0_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546758" y="5590604"/>
            <a:ext cx="1028001" cy="624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hf658c465484e9ad_0_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519129" y="5440950"/>
            <a:ext cx="697896" cy="7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hf658c465484e9ad_0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36475" y="4840287"/>
            <a:ext cx="1028001" cy="63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hf658c465484e9ad_0_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641774" y="5531225"/>
            <a:ext cx="908350" cy="647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hf658c465484e9ad_0_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558026" y="4842250"/>
            <a:ext cx="908351" cy="857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hf658c465484e9ad_0_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559925" y="5342524"/>
            <a:ext cx="908350" cy="836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hf658c465484e9ad_0_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733728" y="4976209"/>
            <a:ext cx="908350" cy="68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hf658c465484e9ad_0_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 flipH="1" rot="-4427404">
            <a:off x="9076525" y="5322638"/>
            <a:ext cx="379750" cy="106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hf658c465484e9ad_0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586988" y="4999033"/>
            <a:ext cx="1028001" cy="638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hf658c465484e9ad_0_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0571900" y="5397417"/>
            <a:ext cx="1027999" cy="726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hf658c465484e9ad_0_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 txBox="1"/>
          <p:nvPr>
            <p:ph idx="4294967295" type="title"/>
          </p:nvPr>
        </p:nvSpPr>
        <p:spPr>
          <a:xfrm>
            <a:off x="548628" y="437457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Matriz morfológica: alternativas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aphicFrame>
        <p:nvGraphicFramePr>
          <p:cNvPr id="332" name="Google Shape;332;p12"/>
          <p:cNvGraphicFramePr/>
          <p:nvPr/>
        </p:nvGraphicFramePr>
        <p:xfrm>
          <a:off x="548640" y="1899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{84B226AC-CAD4-465F-99F7-B25A05D7D46E}</a:tableStyleId>
              </a:tblPr>
              <a:tblGrid>
                <a:gridCol w="2011675"/>
                <a:gridCol w="3026650"/>
                <a:gridCol w="3026650"/>
                <a:gridCol w="3026650"/>
              </a:tblGrid>
              <a:tr h="61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Subsistema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1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Económica y sencilla</a:t>
                      </a:r>
                      <a:endParaRPr sz="10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2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Equilibrada</a:t>
                      </a:r>
                      <a:endParaRPr sz="10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3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Más robusta</a:t>
                      </a:r>
                      <a:endParaRPr sz="10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</a:tr>
              <a:tr h="148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Mecánica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T10 – T14</a:t>
                      </a:r>
                      <a:endParaRPr sz="10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Bomba 12 V · bomba peristáltica · NEMA 17 + husillo T8 · motor DC + PWM · brazo articulado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Bomba 12 V · bomba electromagnética · actuador lineal 12 V · relé + temporizador · brazo articulado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Bomba 12 V · bomba de jeringa · servomotor lineal · driver con encoder · brazo telescópico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3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Interfaz y comunicación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T15 – T17</a:t>
                      </a:r>
                      <a:endParaRPr sz="10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Buzzer · LCD 16×2 ·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Zumbador · OLED · Wi-Fi + Bluetooth del ESP32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Altavoz · TFT a color · Wi-Fi + Bluetooth del ESP32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</a:tr>
              <a:tr h="113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Materiales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T18 – T19</a:t>
                      </a:r>
                      <a:endParaRPr sz="10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Carcasa PLA 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Carcasa ABS · envase HDPE o PP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Carcasa PETG · envase con sello hermético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3" name="Google Shape;333;p12"/>
          <p:cNvSpPr txBox="1"/>
          <p:nvPr/>
        </p:nvSpPr>
        <p:spPr>
          <a:xfrm>
            <a:off x="548640" y="6261378"/>
            <a:ext cx="1109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Poppins"/>
              <a:buNone/>
            </a:pP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19 funciones (T1–T19) · el ESP32 es el controlador común · metodología VDI 2206 [8]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4175" y="3247325"/>
            <a:ext cx="772200" cy="5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4300" y="2985846"/>
            <a:ext cx="618066" cy="5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0575" y="3466897"/>
            <a:ext cx="618075" cy="51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0206" y="2985850"/>
            <a:ext cx="1196619" cy="5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59420" y="3168870"/>
            <a:ext cx="670000" cy="68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763938" y="3237138"/>
            <a:ext cx="950940" cy="38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51220" y="3273100"/>
            <a:ext cx="670000" cy="4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04541" y="2968487"/>
            <a:ext cx="573350" cy="46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46349" y="3368149"/>
            <a:ext cx="618075" cy="6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086429" y="2977869"/>
            <a:ext cx="772200" cy="554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2"/>
          <p:cNvPicPr preferRelativeResize="0"/>
          <p:nvPr/>
        </p:nvPicPr>
        <p:blipFill rotWithShape="1">
          <a:blip r:embed="rId14">
            <a:alphaModFix/>
          </a:blip>
          <a:srcRect b="0" l="9690" r="-9690" t="0"/>
          <a:stretch/>
        </p:blipFill>
        <p:spPr>
          <a:xfrm>
            <a:off x="9844971" y="3476828"/>
            <a:ext cx="573350" cy="499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931578" y="3483017"/>
            <a:ext cx="670000" cy="447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721963" y="4278738"/>
            <a:ext cx="94297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04600" y="4361663"/>
            <a:ext cx="1196625" cy="60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759422" y="4408482"/>
            <a:ext cx="670000" cy="64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695698" y="4311625"/>
            <a:ext cx="772200" cy="70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655475" y="4324884"/>
            <a:ext cx="772200" cy="67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2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701825" y="4455581"/>
            <a:ext cx="950925" cy="417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2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9844967" y="4452325"/>
            <a:ext cx="332453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2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0369646" y="4438996"/>
            <a:ext cx="950925" cy="580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2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275019" y="5550794"/>
            <a:ext cx="1196625" cy="586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2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759426" y="5449574"/>
            <a:ext cx="1299178" cy="68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2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360100" y="5407711"/>
            <a:ext cx="817588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2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10272447" y="5390338"/>
            <a:ext cx="772200" cy="806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2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9162297" y="5539064"/>
            <a:ext cx="670000" cy="63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f658c465484e9ad_0_116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hf658c465484e9ad_0_116"/>
          <p:cNvSpPr txBox="1"/>
          <p:nvPr>
            <p:ph idx="4294967295" type="title"/>
          </p:nvPr>
        </p:nvSpPr>
        <p:spPr>
          <a:xfrm>
            <a:off x="550203" y="452607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Matriz morfológica: alternativas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aphicFrame>
        <p:nvGraphicFramePr>
          <p:cNvPr id="366" name="Google Shape;366;hf658c465484e9ad_0_116"/>
          <p:cNvGraphicFramePr/>
          <p:nvPr/>
        </p:nvGraphicFramePr>
        <p:xfrm>
          <a:off x="550190" y="17264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{84B226AC-CAD4-465F-99F7-B25A05D7D46E}</a:tableStyleId>
              </a:tblPr>
              <a:tblGrid>
                <a:gridCol w="2011675"/>
                <a:gridCol w="3026650"/>
                <a:gridCol w="3026650"/>
                <a:gridCol w="3026650"/>
              </a:tblGrid>
              <a:tr h="4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Subsistema  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1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Económica y sencilla</a:t>
                      </a:r>
                      <a:endParaRPr sz="10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2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Equilibrada</a:t>
                      </a:r>
                      <a:endParaRPr sz="10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Solución 3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Más robusta</a:t>
                      </a:r>
                      <a:endParaRPr sz="10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</a:tr>
              <a:tr h="74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Energía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T1 – T5</a:t>
                      </a:r>
                      <a:endParaRPr b="1" i="0" sz="1000" u="none" cap="none" strike="noStrike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Batería de litio 3,7/5 V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nterruptor deslizante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Convertidor DC-DC tipo buck 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Regulador LDO 5V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Regulador 5 V dedicado</a:t>
                      </a:r>
                      <a:endParaRPr b="0" i="0" sz="1100" u="none" cap="none" strike="noStrike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Conexión directa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nterruptor basculante ·  Convertidor DC-DC tipo buck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Regulador LDO 5V 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Regulador 5 V dedicado</a:t>
                      </a:r>
                      <a:endParaRPr b="0" i="0" sz="1100" u="none" cap="none" strike="noStrike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Conexión directa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nterruptor basculante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Fuente conmutada (switching)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tep-down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regulador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DC-DC aislado</a:t>
                      </a:r>
                      <a:endParaRPr b="0" i="0" sz="1100" u="none" cap="none" strike="noStrike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Procesamiento y sensado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T6 – T9</a:t>
                      </a:r>
                      <a:endParaRPr b="1" i="0" sz="1000" u="none" cap="none" strike="noStrike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ESP32 · turbidez 0–1000 NTU · pH con electrodo de vidrio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 Sensor de Nivel de Agua Vertical (Plastico)</a:t>
                      </a:r>
                      <a:endParaRPr b="0" i="0" sz="1100" u="none" cap="none" strike="noStrike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ESP32 · T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urbidez 0–1000 NTU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 pH con sonda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Sensor capacitivo sin contacto XKC-Y25</a:t>
                      </a:r>
                      <a:endParaRPr b="0" i="0" sz="1100" u="none" cap="none" strike="noStrike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ESP32 · Se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nsor de 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turbidez nefelométric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pH de estado sólido (ISFET)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Control eléctrico de nivel de agua/Boya</a:t>
                      </a:r>
                      <a:endParaRPr b="0" i="0" sz="1100" u="none" cap="none" strike="noStrike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</a:tr>
              <a:tr h="134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Mecánica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T10 – T14</a:t>
                      </a:r>
                      <a:endParaRPr sz="10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Bomba 12 V · Bomba de jeringa automatizada · Actuador lineal 12 V · Driver de motor con retroalimentación de velocidad (encoder) · Brazo telescópico</a:t>
                      </a:r>
                      <a:endParaRPr sz="1100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B2F3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omba alimentación agua sucia 12V · bomba peristáltica · Motor NEMA 17 + husillo T8 · motor DC + PWM · brazo articulado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Bomba alimentación agua sucia 12V 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Bomba dosificadora electromagnética 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Servomotor lineal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Relé + temporizador (encendido/apagado por etapas fijas) 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razo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articulado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Interfaz y comunicación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T15 – T17</a:t>
                      </a:r>
                      <a:endParaRPr sz="10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Altavoz pequeño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Pantalla TFT a color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Bluetooth integrdo del E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SP32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Buzzer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Pantalla LCD 16 x 2 · Wi-Fi + Bluetooth del ESP32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Zumbador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Pantalla OLED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Wi-Fi + Bluetooth del ESP32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50"/>
                        <a:buFont typeface="Poppins"/>
                        <a:buNone/>
                      </a:pPr>
                      <a:r>
                        <a:rPr b="1" i="0" lang="es-PE" sz="115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Materiales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Poppins"/>
                        <a:buNone/>
                      </a:pPr>
                      <a:r>
                        <a:rPr b="0" i="0" lang="es-PE" sz="1000" u="none" cap="none" strike="noStrik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T18 – T19</a:t>
                      </a:r>
                      <a:endParaRPr sz="10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ABS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Envase con sello hermético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PLA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</a:t>
                      </a: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nvase plástico HDPE o PP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100"/>
                        <a:buFont typeface="Poppins"/>
                        <a:buNone/>
                      </a:pPr>
                      <a:r>
                        <a:rPr b="0" i="0" lang="es-PE" sz="11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Carcasa PETG · </a:t>
                      </a:r>
                      <a:r>
                        <a:rPr lang="es-PE" sz="1100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Envase plástico HDPE o PP</a:t>
                      </a:r>
                      <a:endParaRPr sz="1100" u="none" cap="none" strike="noStrike"/>
                    </a:p>
                  </a:txBody>
                  <a:tcPr marT="36575" marB="36575" marR="731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7" name="Google Shape;367;hf658c465484e9ad_0_116"/>
          <p:cNvSpPr txBox="1"/>
          <p:nvPr/>
        </p:nvSpPr>
        <p:spPr>
          <a:xfrm>
            <a:off x="550190" y="6306728"/>
            <a:ext cx="1109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Poppins"/>
              <a:buNone/>
            </a:pP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19 funciones (T1–T19) · el ESP32 es el controlador común · metodología VDI 2206 [8]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hf658c465484e9ad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"/>
          <p:cNvSpPr txBox="1"/>
          <p:nvPr>
            <p:ph type="title"/>
          </p:nvPr>
        </p:nvSpPr>
        <p:spPr>
          <a:xfrm>
            <a:off x="548640" y="25603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lang="es-PE" u="sng"/>
              <a:t>Concepto solución ganador</a:t>
            </a:r>
            <a:endParaRPr u="sng"/>
          </a:p>
        </p:txBody>
      </p:sp>
      <p:graphicFrame>
        <p:nvGraphicFramePr>
          <p:cNvPr id="374" name="Google Shape;374;p13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{84B226AC-CAD4-465F-99F7-B25A05D7D46E}</a:tableStyleId>
              </a:tblPr>
              <a:tblGrid>
                <a:gridCol w="2651750"/>
                <a:gridCol w="731525"/>
                <a:gridCol w="868675"/>
                <a:gridCol w="868675"/>
                <a:gridCol w="8686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Criterio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Peso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112E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Precisión de dosificación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0,20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Costo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0,15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Complejidad técnica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0,15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Control del proceso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0,15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Consumo energético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0,10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Mantenimiento e higiene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0,10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Confiabilidad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0,10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Portabilidad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0,05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ponderado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4,00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12E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E311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4,35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A"/>
                        </a:buClr>
                        <a:buSzPts val="1200"/>
                        <a:buFont typeface="Poppins"/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2B2F3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3,35</a:t>
                      </a:r>
                      <a:endParaRPr sz="1200" u="none" cap="none" strike="noStrike"/>
                    </a:p>
                  </a:txBody>
                  <a:tcPr marT="36575" marB="36575" marR="731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5" name="Google Shape;375;p13"/>
          <p:cNvSpPr/>
          <p:nvPr/>
        </p:nvSpPr>
        <p:spPr>
          <a:xfrm>
            <a:off x="548640" y="5074920"/>
            <a:ext cx="5989320" cy="73152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Pugh (base A): </a:t>
            </a:r>
            <a:r>
              <a:rPr b="0" i="0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 suma +3 y C suma −6. Puntajes de 1 a 5, 5 = mejor.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6766560" y="1280160"/>
            <a:ext cx="4873752" cy="4526280"/>
          </a:xfrm>
          <a:prstGeom prst="roundRect">
            <a:avLst>
              <a:gd fmla="val 6000" name="adj"/>
            </a:avLst>
          </a:prstGeom>
          <a:solidFill>
            <a:srgbClr val="FDEEF0"/>
          </a:solidFill>
          <a:ln>
            <a:noFill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201150" spcFirstLastPara="1" rIns="182875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600"/>
              <a:buFont typeface="Poppins"/>
              <a:buNone/>
            </a:pPr>
            <a:r>
              <a:rPr b="0" i="0" lang="es-PE" sz="16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700"/>
              <a:buFont typeface="Poppins"/>
              <a:buNone/>
            </a:pPr>
            <a:r>
              <a:rPr b="1" i="0" lang="es-PE" sz="17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Concepto B</a:t>
            </a:r>
            <a:endParaRPr b="1" sz="17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3112E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Mayor puntaje ponderado: 4,35 de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rgbClr val="E3112E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Energía y control: </a:t>
            </a: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conexión directa, buck DC-DC y ESP32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Sensores: </a:t>
            </a: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turbidez 0–1000 NTU, pH con sonda y nivel XKC-Y25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Dosificación: </a:t>
            </a: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bomba peristáltica y bomba de 12 V para el agua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Agitación: </a:t>
            </a: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motor DC con PWM posicionado por NEMA 17 y husillo T8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Interfaz: </a:t>
            </a: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LCD 16×2, buzzer y Wi-Fi/Bluetooth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Estructura: </a:t>
            </a: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carcasa PLA, envase HDPE/PP y brazo articulado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6967728" y="1417320"/>
            <a:ext cx="1737360" cy="256032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CONCEPTO GANADOR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6967728" y="233172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7269480" y="2350008"/>
            <a:ext cx="2487168" cy="182880"/>
          </a:xfrm>
          <a:prstGeom prst="roundRect">
            <a:avLst>
              <a:gd fmla="val 50000" name="adj"/>
            </a:avLst>
          </a:prstGeom>
          <a:solidFill>
            <a:srgbClr val="B8BCC6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9829800" y="2331720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4,00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6967728" y="260604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7269480" y="2624328"/>
            <a:ext cx="2704795" cy="18288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10047427" y="2606040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4,35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 txBox="1"/>
          <p:nvPr/>
        </p:nvSpPr>
        <p:spPr>
          <a:xfrm>
            <a:off x="6967728" y="288036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7269480" y="2898648"/>
            <a:ext cx="2083003" cy="182880"/>
          </a:xfrm>
          <a:prstGeom prst="roundRect">
            <a:avLst>
              <a:gd fmla="val 50000" name="adj"/>
            </a:avLst>
          </a:prstGeom>
          <a:solidFill>
            <a:srgbClr val="B8BCC6"/>
          </a:solidFill>
          <a:ln>
            <a:noFill/>
          </a:ln>
        </p:spPr>
        <p:txBody>
          <a:bodyPr anchorCtr="0" anchor="t" bIns="73150" lIns="109725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9425635" y="2880360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3,35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 txBox="1"/>
          <p:nvPr>
            <p:ph idx="4294967295" type="title"/>
          </p:nvPr>
        </p:nvSpPr>
        <p:spPr>
          <a:xfrm>
            <a:off x="550265" y="419807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Bocetos de las propuestas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descr="Boceto a mano alzada de la Solución Roja" id="394" name="Google Shape;3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150" y="1853478"/>
            <a:ext cx="3593700" cy="2589000"/>
          </a:xfrm>
          <a:prstGeom prst="roundRect">
            <a:avLst>
              <a:gd fmla="val 3000" name="adj"/>
            </a:avLst>
          </a:prstGeom>
          <a:noFill/>
          <a:ln cap="flat" cmpd="sng" w="28575">
            <a:solidFill>
              <a:srgbClr val="E3112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5" name="Google Shape;395;p14"/>
          <p:cNvSpPr/>
          <p:nvPr/>
        </p:nvSpPr>
        <p:spPr>
          <a:xfrm>
            <a:off x="497140" y="4606907"/>
            <a:ext cx="1554600" cy="292500"/>
          </a:xfrm>
          <a:prstGeom prst="roundRect">
            <a:avLst>
              <a:gd fmla="val 50000" name="adj"/>
            </a:avLst>
          </a:prstGeom>
          <a:solidFill>
            <a:srgbClr val="E3112E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Solución Roja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 txBox="1"/>
          <p:nvPr/>
        </p:nvSpPr>
        <p:spPr>
          <a:xfrm>
            <a:off x="497140" y="5009243"/>
            <a:ext cx="35937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Batería de litio, bomba de jeringa automatizada, actuador lineal 12 V con driver y encoder, brazo telescópico, pantalla TFT y Bluetooth. Todo en ABS.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ceto a mano alzada de la Solución Verde" id="397" name="Google Shape;3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6748" y="1854428"/>
            <a:ext cx="3593700" cy="2589000"/>
          </a:xfrm>
          <a:prstGeom prst="roundRect">
            <a:avLst>
              <a:gd fmla="val 3000" name="adj"/>
            </a:avLst>
          </a:prstGeom>
          <a:noFill/>
          <a:ln cap="flat" cmpd="sng" w="28575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8" name="Google Shape;398;p14"/>
          <p:cNvSpPr/>
          <p:nvPr/>
        </p:nvSpPr>
        <p:spPr>
          <a:xfrm>
            <a:off x="4246180" y="4606907"/>
            <a:ext cx="1554600" cy="292500"/>
          </a:xfrm>
          <a:prstGeom prst="roundRect">
            <a:avLst>
              <a:gd fmla="val 50000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Solución Verde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4246180" y="5009243"/>
            <a:ext cx="35937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Conexión directa, bomba dosificadora electromagnética, servomotor lineal y relé, boya de nivel, pantalla OLED con Wi-Fi/Bluetooth. Todo en PETG.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8101358" y="4606907"/>
            <a:ext cx="1554600" cy="292500"/>
          </a:xfrm>
          <a:prstGeom prst="roundRect">
            <a:avLst>
              <a:gd fmla="val 50000" name="adj"/>
            </a:avLst>
          </a:prstGeom>
          <a:solidFill>
            <a:srgbClr val="1F6FB2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s-PE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Solución Azul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9792998" y="4606907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2B2F3A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SELECCIONADA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 txBox="1"/>
          <p:nvPr/>
        </p:nvSpPr>
        <p:spPr>
          <a:xfrm>
            <a:off x="8101358" y="5009243"/>
            <a:ext cx="35937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Bomba peristáltica, motor DC + PWM sobre NEMA 17 y husillo T8, brazo articulado, LCD 16×2 y buzzer. Todo en PLA; envase HDPE/PP.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 txBox="1"/>
          <p:nvPr/>
        </p:nvSpPr>
        <p:spPr>
          <a:xfrm>
            <a:off x="498915" y="6292318"/>
            <a:ext cx="1109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Poppins"/>
              <a:buNone/>
            </a:pP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Cada boceto tiene lista numerada de elementos (despiece) y dimensiones aproximadas; el detalle de la Solución Azul está en la siguiente diapositiva.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14" title="WhatsApp Image 2026-10-05 at 9.34.44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6316" y="1837862"/>
            <a:ext cx="3483784" cy="2588837"/>
          </a:xfrm>
          <a:prstGeom prst="rect">
            <a:avLst/>
          </a:prstGeom>
          <a:noFill/>
          <a:ln cap="flat" cmpd="sng" w="28575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5" name="Google Shape;40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 txBox="1"/>
          <p:nvPr>
            <p:ph idx="4294967295" type="title"/>
          </p:nvPr>
        </p:nvSpPr>
        <p:spPr>
          <a:xfrm>
            <a:off x="550265" y="437457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Solución Azul: despiece e interacción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636650" y="5309150"/>
            <a:ext cx="4937700" cy="12033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54850" lIns="182875" spcFirstLastPara="1" rIns="18287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200"/>
              <a:buFont typeface="Poppins"/>
              <a:buNone/>
            </a:pPr>
            <a:r>
              <a:rPr b="1" i="0" lang="es-PE" sz="12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Cómo se 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B2F3A"/>
              </a:buClr>
              <a:buSzPts val="1150"/>
              <a:buFont typeface="Poppins"/>
              <a:buNone/>
            </a:pPr>
            <a:r>
              <a:rPr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Reactor de 1 L ubicado en el centro del sistema. A un lado se encuentran el bidón de agua turbia y el depósito de solución de quitosano. La caja de control, con pantalla LCD e interruptor, se ubica en la parte frontal. Los sensores y el agitador se instalan en la tapa del reactor.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5762275" y="1809300"/>
            <a:ext cx="5879700" cy="26115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>
            <a:noFill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73150" lIns="182875" spcFirstLastPara="1" rIns="13715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Despiece (numeración del boceto)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5945158" y="2208372"/>
            <a:ext cx="2711100" cy="1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Poppins"/>
              <a:buNone/>
            </a:pPr>
            <a:r>
              <a:rPr b="1" i="0" lang="es-PE" sz="11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Energía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50"/>
              <a:buFont typeface="Poppins"/>
              <a:buNone/>
            </a:pPr>
            <a:r>
              <a:rPr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Conexión eléctrica · Interruptor basculante · Convertidor DC-DC tipo buck · Regulación de tensión a 5 V para los componentes que lo requieran.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Poppins"/>
              <a:buNone/>
            </a:pPr>
            <a:r>
              <a:rPr b="1" i="0" lang="es-PE" sz="11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Procesamiento y sensado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50"/>
              <a:buFont typeface="Poppins"/>
              <a:buNone/>
            </a:pPr>
            <a:r>
              <a:rPr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ESP32 · Sensor de turbidez (0–1000 NTU) · Sensor de pH con sonda · Sensor de nivel capacitivo XKC-Y25.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 txBox="1"/>
          <p:nvPr/>
        </p:nvSpPr>
        <p:spPr>
          <a:xfrm>
            <a:off x="8747792" y="2208372"/>
            <a:ext cx="2711100" cy="1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Poppins"/>
              <a:buNone/>
            </a:pPr>
            <a:r>
              <a:rPr b="1" i="0" lang="es-PE" sz="11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Mecánica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50"/>
              <a:buFont typeface="Poppins"/>
              <a:buNone/>
            </a:pPr>
            <a:r>
              <a:rPr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Bomba de agua  12 V · Bomba peristáltica, dosifica el quitosano · Motor NEMA 17 con husillo T8, posiciona el conjunto de agitación · Motor DC, control PWM para la agitación · Brazo articulado.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112E"/>
              </a:buClr>
              <a:buSzPts val="1150"/>
              <a:buFont typeface="Poppins"/>
              <a:buNone/>
            </a:pPr>
            <a:r>
              <a:rPr b="1" i="0" lang="es-PE" sz="115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Comunicación y materiales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150"/>
              <a:buFont typeface="Poppins"/>
              <a:buNone/>
            </a:pPr>
            <a:r>
              <a:rPr lang="es-PE" sz="11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Pantalla LCD 16×2 · Buzzer · Wi-Fi/Bluetooth del ESP32 · Reactor y depósito de quitosano · Carcasa de PLA · Depósito de HDPE o PP.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5762275" y="4564851"/>
            <a:ext cx="5879700" cy="1947600"/>
          </a:xfrm>
          <a:prstGeom prst="roundRect">
            <a:avLst>
              <a:gd fmla="val 6000" name="adj"/>
            </a:avLst>
          </a:prstGeom>
          <a:solidFill>
            <a:srgbClr val="E4F3F5"/>
          </a:solidFill>
          <a:ln>
            <a:noFill/>
          </a:ln>
        </p:spPr>
        <p:txBody>
          <a:bodyPr anchorCtr="0" anchor="t" bIns="73150" lIns="182875" spcFirstLastPara="1" rIns="13715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0F7B8A"/>
                </a:solidFill>
                <a:latin typeface="Poppins"/>
                <a:ea typeface="Poppins"/>
                <a:cs typeface="Poppins"/>
                <a:sym typeface="Poppins"/>
              </a:rPr>
              <a:t>Interacción con el mundo real</a:t>
            </a:r>
            <a:endParaRPr sz="12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Llenado:</a:t>
            </a: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La bomba transporta el agua al reactor.</a:t>
            </a:r>
            <a:endParaRPr sz="12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Medición:</a:t>
            </a: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Los sensores registran pH, turbidez y nivel.</a:t>
            </a:r>
            <a:endParaRPr sz="12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b="1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Dosificación:</a:t>
            </a: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El ESP32 calcula la dosis y activa la bomba de quitosano; luego se agita.</a:t>
            </a:r>
            <a:endParaRPr sz="12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b="1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Sedimentación:</a:t>
            </a: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Se forman flóculos y se separan los lodos del agua clarificada.</a:t>
            </a:r>
            <a:endParaRPr sz="12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5. </a:t>
            </a:r>
            <a:r>
              <a:rPr b="1"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Evaluación:</a:t>
            </a:r>
            <a:r>
              <a:rPr lang="es-PE" sz="12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Se mide la turbidez final y se muestran los resultados en LCD, buzzer y Wi-Fi.</a:t>
            </a:r>
            <a:endParaRPr sz="12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B2F3A"/>
              </a:buClr>
              <a:buSzPts val="1200"/>
              <a:buFont typeface="Poppins"/>
              <a:buNone/>
            </a:pPr>
            <a:r>
              <a:t/>
            </a:r>
            <a:endParaRPr sz="12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7" name="Google Shape;417;p15" title="WhatsApp Image 2026-10-05 at 9.34.44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60" y="1809288"/>
            <a:ext cx="4649144" cy="3378703"/>
          </a:xfrm>
          <a:prstGeom prst="rect">
            <a:avLst/>
          </a:prstGeom>
          <a:noFill/>
          <a:ln cap="flat" cmpd="sng" w="28575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8" name="Google Shape;41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 txBox="1"/>
          <p:nvPr>
            <p:ph idx="4294967295" type="title"/>
          </p:nvPr>
        </p:nvSpPr>
        <p:spPr>
          <a:xfrm>
            <a:off x="550165" y="437457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Diseño 3D en Onshape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550175" y="1763950"/>
            <a:ext cx="6629400" cy="4894500"/>
          </a:xfrm>
          <a:prstGeom prst="roundRect">
            <a:avLst>
              <a:gd fmla="val 3000" name="adj"/>
            </a:avLst>
          </a:prstGeom>
          <a:solidFill>
            <a:srgbClr val="FDEEF0"/>
          </a:solidFill>
          <a:ln cap="flat" cmpd="sng" w="15875">
            <a:solidFill>
              <a:srgbClr val="E311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INSERTAR CAPTURA DEL MODELO 3D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Ensamblaje completo en Onshape (vista isométrica) con el cajetín UPCH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7408175" y="1763950"/>
            <a:ext cx="4233600" cy="48945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>
            <a:noFill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201150" spcFirstLastPara="1" rIns="182875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500"/>
              <a:buFont typeface="Poppins"/>
              <a:buNone/>
            </a:pPr>
            <a:r>
              <a:rPr b="1" i="0" lang="es-PE" sz="15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Piezas a modelar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Poppins"/>
              <a:buNone/>
            </a:pPr>
            <a:r>
              <a:rPr b="0" i="0" lang="es-PE" sz="11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Según el boceto de la Solución Azul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Arial"/>
              <a:buChar char="•"/>
            </a:pP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Reactor de 1 L con tapa para sensores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Arial"/>
              <a:buChar char="•"/>
            </a:pP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Soporte del agitador: NEMA 17 + husillo T8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Arial"/>
              <a:buChar char="•"/>
            </a:pP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Brazo articulado para la caja de sensores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Arial"/>
              <a:buChar char="•"/>
            </a:pP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Caja de control con LCD e interruptor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Arial"/>
              <a:buChar char="•"/>
            </a:pP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Soportes de la bomba peristáltica y del envase de quitosano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Arial"/>
              <a:buChar char="•"/>
            </a:pP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Base modular de la estructur</a:t>
            </a:r>
            <a:r>
              <a:rPr b="0" i="0" lang="es-PE" sz="14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Char char="•"/>
            </a:pPr>
            <a:r>
              <a:rPr lang="es-PE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Enlace: </a:t>
            </a:r>
            <a:r>
              <a:rPr lang="es-PE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https://cad.onshape.com/documents/06947ddb91d11baa99cb7771/w/ae9234bc94d45c112f779e45/e/bae95c7a29d602dc0212cc6e</a:t>
            </a:r>
            <a:endParaRPr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7" name="Google Shape;4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071" y="1674925"/>
            <a:ext cx="7155100" cy="502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 txBox="1"/>
          <p:nvPr>
            <p:ph idx="4294967295" type="title"/>
          </p:nvPr>
        </p:nvSpPr>
        <p:spPr>
          <a:xfrm>
            <a:off x="550165" y="407232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Planos principales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550200" y="1794872"/>
            <a:ext cx="3593700" cy="3476400"/>
          </a:xfrm>
          <a:prstGeom prst="roundRect">
            <a:avLst>
              <a:gd fmla="val 3000" name="adj"/>
            </a:avLst>
          </a:prstGeom>
          <a:solidFill>
            <a:srgbClr val="FDEEF0"/>
          </a:solidFill>
          <a:ln cap="flat" cmpd="sng" w="15875">
            <a:solidFill>
              <a:srgbClr val="E311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INSERTAR PLANO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Con cajetín UPCH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 txBox="1"/>
          <p:nvPr/>
        </p:nvSpPr>
        <p:spPr>
          <a:xfrm>
            <a:off x="550213" y="5484798"/>
            <a:ext cx="35937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Vista general acotada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Dimensiones totales y ubicación de los módulos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299238" y="1794872"/>
            <a:ext cx="3593700" cy="3476400"/>
          </a:xfrm>
          <a:prstGeom prst="roundRect">
            <a:avLst>
              <a:gd fmla="val 3000" name="adj"/>
            </a:avLst>
          </a:prstGeom>
          <a:solidFill>
            <a:srgbClr val="FDEEF0"/>
          </a:solidFill>
          <a:ln cap="flat" cmpd="sng" w="15875">
            <a:solidFill>
              <a:srgbClr val="E311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INSERTAR PLANO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Con cajetín UPCH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>
            <a:off x="4299251" y="5484798"/>
            <a:ext cx="35937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Despiece y lista de piezas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Piezas numeradas con material y cantidad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8048277" y="1794872"/>
            <a:ext cx="3593700" cy="3476400"/>
          </a:xfrm>
          <a:prstGeom prst="roundRect">
            <a:avLst>
              <a:gd fmla="val 3000" name="adj"/>
            </a:avLst>
          </a:prstGeom>
          <a:solidFill>
            <a:srgbClr val="FDEEF0"/>
          </a:solidFill>
          <a:ln cap="flat" cmpd="sng" w="15875">
            <a:solidFill>
              <a:srgbClr val="E311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INSERTAR PLANO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Con cajetín UPCH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 txBox="1"/>
          <p:nvPr/>
        </p:nvSpPr>
        <p:spPr>
          <a:xfrm>
            <a:off x="8048289" y="5484798"/>
            <a:ext cx="35937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Detalle del soporte del agitador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Poppins"/>
              <a:buNone/>
            </a:pPr>
            <a:r>
              <a:rPr b="0" i="0" lang="es-PE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Pieza crítica: NEMA 17</a:t>
            </a:r>
            <a:r>
              <a:rPr lang="es-PE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b="0" i="0" lang="es-PE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husillo T8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 txBox="1"/>
          <p:nvPr/>
        </p:nvSpPr>
        <p:spPr>
          <a:xfrm>
            <a:off x="550178" y="6397593"/>
            <a:ext cx="1109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Poppins"/>
              <a:buNone/>
            </a:pPr>
            <a:r>
              <a:rPr b="0" i="0" lang="es-PE" sz="105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Sugerencia: elegir los planos que mejor expliquen el montaje y la interacción del sistema con el agua y el operador.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17" title="Assembly3 (1)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8281" y="2036366"/>
            <a:ext cx="3593576" cy="297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17" title="WhatsApp Image 2026-10-05 at 10.52.11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9071" y="1785076"/>
            <a:ext cx="3193933" cy="3476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7" title="asemblyfinal Drawing 2_page-000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210" y="2036366"/>
            <a:ext cx="3544394" cy="293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8"/>
          <p:cNvSpPr/>
          <p:nvPr/>
        </p:nvSpPr>
        <p:spPr>
          <a:xfrm>
            <a:off x="100" y="0"/>
            <a:ext cx="12192000" cy="1461900"/>
          </a:xfrm>
          <a:prstGeom prst="rect">
            <a:avLst/>
          </a:prstGeom>
          <a:solidFill>
            <a:srgbClr val="E06666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 txBox="1"/>
          <p:nvPr>
            <p:ph idx="4294967295" type="title"/>
          </p:nvPr>
        </p:nvSpPr>
        <p:spPr>
          <a:xfrm>
            <a:off x="550190" y="471532"/>
            <a:ext cx="1109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ct val="86486"/>
              <a:buFont typeface="Poppins"/>
              <a:buNone/>
            </a:pPr>
            <a:r>
              <a:rPr b="1" lang="es-PE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Interacción del modelo 3D con el mundo real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550240" y="1929860"/>
            <a:ext cx="2606100" cy="32004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>
            <a:noFill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82875" spcFirstLastPara="1" rIns="164575" wrap="square" tIns="64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500"/>
              <a:buFont typeface="Poppins"/>
              <a:buNone/>
            </a:pPr>
            <a:r>
              <a:rPr b="1" i="0" lang="es-PE" sz="15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Fabricación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B2F3A"/>
              </a:buClr>
              <a:buSzPts val="1350"/>
              <a:buFont typeface="Poppins"/>
              <a:buNone/>
            </a:pPr>
            <a:r>
              <a:rPr b="0" i="0" lang="es-PE" sz="13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Estructura y soportes impresos en 3D (PLA) y ensamblados con bombas, motores y sensores comerciales.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733120" y="2067020"/>
            <a:ext cx="420600" cy="4206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378784" y="1929860"/>
            <a:ext cx="2606100" cy="32004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>
            <a:noFill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82875" spcFirstLastPara="1" rIns="164575" wrap="square" tIns="64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500"/>
              <a:buFont typeface="Poppins"/>
              <a:buNone/>
            </a:pPr>
            <a:r>
              <a:rPr b="1" i="0" lang="es-PE" sz="15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Montaje modular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B2F3A"/>
              </a:buClr>
              <a:buSzPts val="1350"/>
              <a:buFont typeface="Poppins"/>
              <a:buNone/>
            </a:pPr>
            <a:r>
              <a:rPr b="0" i="0" lang="es-PE" sz="13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Cinco módulos: tratamiento, dosificación, agitación, electrónico y software; fáciles de montar y desmontar.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3561664" y="2067020"/>
            <a:ext cx="420600" cy="4206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6207328" y="1929860"/>
            <a:ext cx="2606100" cy="32004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>
            <a:noFill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82875" spcFirstLastPara="1" rIns="164575" wrap="square" tIns="64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500"/>
              <a:buFont typeface="Poppins"/>
              <a:buNone/>
            </a:pPr>
            <a:r>
              <a:rPr b="1" i="0" lang="es-PE" sz="15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Operación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B2F3A"/>
              </a:buClr>
              <a:buSzPts val="1350"/>
              <a:buFont typeface="Poppins"/>
              <a:buNone/>
            </a:pPr>
            <a:r>
              <a:rPr b="0" i="0" lang="es-PE" sz="13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El operador coloca la muestra, inicia el proceso, supervisa pH y turbidez en el LCD y retira el agua tratada.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6390208" y="2067020"/>
            <a:ext cx="420600" cy="4206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9035872" y="1929860"/>
            <a:ext cx="2606100" cy="320040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>
            <a:noFill/>
          </a:ln>
          <a:effectLst>
            <a:outerShdw blurRad="63500" rotWithShape="0" algn="t" dir="5400000" dist="19050">
              <a:srgbClr val="000000">
                <a:alpha val="14118"/>
              </a:srgbClr>
            </a:outerShdw>
          </a:effectLst>
        </p:spPr>
        <p:txBody>
          <a:bodyPr anchorCtr="0" anchor="t" bIns="91425" lIns="182875" spcFirstLastPara="1" rIns="164575" wrap="square" tIns="64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F3A"/>
              </a:buClr>
              <a:buSzPts val="1500"/>
              <a:buFont typeface="Poppins"/>
              <a:buNone/>
            </a:pPr>
            <a:r>
              <a:rPr b="1" i="0" lang="es-PE" sz="15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Limpieza y seguridad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B2F3A"/>
              </a:buClr>
              <a:buSzPts val="1350"/>
              <a:buFont typeface="Poppins"/>
              <a:buNone/>
            </a:pPr>
            <a:r>
              <a:rPr b="0" i="0" lang="es-PE" sz="135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Reactor y sondas desmontables para limpiar; electrónica protegida de salpicaduras y paro seguro.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9218752" y="2067020"/>
            <a:ext cx="420600" cy="420600"/>
          </a:xfrm>
          <a:prstGeom prst="ellipse">
            <a:avLst/>
          </a:prstGeom>
          <a:solidFill>
            <a:srgbClr val="E311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s-PE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550240" y="5313140"/>
            <a:ext cx="11091600" cy="1097400"/>
          </a:xfrm>
          <a:prstGeom prst="roundRect">
            <a:avLst>
              <a:gd fmla="val 6000" name="adj"/>
            </a:avLst>
          </a:prstGeom>
          <a:solidFill>
            <a:srgbClr val="E4F3F5"/>
          </a:solidFill>
          <a:ln>
            <a:noFill/>
          </a:ln>
        </p:spPr>
        <p:txBody>
          <a:bodyPr anchorCtr="0" anchor="ctr" bIns="73150" lIns="228600" spcFirstLastPara="1" rIns="22860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300"/>
              <a:buFont typeface="Poppins"/>
              <a:buNone/>
            </a:pPr>
            <a:r>
              <a:rPr b="1" i="0" lang="es-PE" sz="1300">
                <a:solidFill>
                  <a:srgbClr val="0F7B8A"/>
                </a:solidFill>
                <a:latin typeface="Poppins"/>
                <a:ea typeface="Poppins"/>
                <a:cs typeface="Poppins"/>
                <a:sym typeface="Poppins"/>
              </a:rPr>
              <a:t>Escala del prototipo: </a:t>
            </a:r>
            <a:r>
              <a:rPr b="0" i="0" lang="es-PE" sz="13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reactor de 1 L y caja de control de unos 20 cm de ancho (medidas aproximadas del boceto), pensado para ensayos de laboratorio y traslado dentro de la universidad con el equipo apagado y vacío.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1" name="Google Shape;46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5" y="52800"/>
            <a:ext cx="2003175" cy="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5239e89d27a6115a_3_140"/>
          <p:cNvSpPr txBox="1"/>
          <p:nvPr>
            <p:ph type="title"/>
          </p:nvPr>
        </p:nvSpPr>
        <p:spPr>
          <a:xfrm>
            <a:off x="548640" y="25603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3200"/>
              <a:buFont typeface="Poppins"/>
              <a:buNone/>
            </a:pPr>
            <a:r>
              <a:rPr lang="es-PE"/>
              <a:t>Referencias</a:t>
            </a:r>
            <a:endParaRPr/>
          </a:p>
        </p:txBody>
      </p:sp>
      <p:sp>
        <p:nvSpPr>
          <p:cNvPr id="467" name="Google Shape;467;h5239e89d27a6115a_3_140"/>
          <p:cNvSpPr/>
          <p:nvPr/>
        </p:nvSpPr>
        <p:spPr>
          <a:xfrm>
            <a:off x="548640" y="1188720"/>
            <a:ext cx="11091672" cy="4663440"/>
          </a:xfrm>
          <a:prstGeom prst="roundRect">
            <a:avLst>
              <a:gd fmla="val 6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t" bIns="73150" lIns="256025" spcFirstLastPara="1" rIns="25602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[1]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«Influencia del caudal en la calidad del agua en la parte baja del río Lurín», Tesis, Universidad Nacional Agraria La Molina, Lima, Perú. [En línea]. Disponible: https://repositorio.lamolina.edu.pe/items/b55f318f-afb2-4f01-8a66-6086c355abde/full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[2]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O. L. Mori Sánchez, «Modelación bidimensional de la recuperación de la calidad del agua del río Lurín entre los km 9+300 al 15+100», Tesis, Universidad Nacional Agraria La Molina, Lima, Perú. [En línea]. Disponible: https://repositorio.lamolina.edu.pe/items/51d47a75-ece1-4829-b711-3325d7fb0c55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[3]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M. A. Lázaro Díaz, «Estudio fisicoquímico y ecotoxicológico de la calidad del agua en la cuenca baja del río Lurín», Tesis, Universidad Nacional Agraria La Molina, Lima, Perú. [En línea]. Disponible: https://repositorio.lamolina.edu.pe/items/d936681c-633e-4059-a356-ce0082ed38db/full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[4]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G. J. Ruiz Antaurco, «Aplicación del Índice Ambiental de los Recursos Hídricos Superficiales en la calidad del agua del río Lurín (2019-2023)», Universidad Nacional Tecnológica de Lima Sur, Lima, Perú, 2023. [En línea]. Disponible: https://agris.fao.org/search/en/records/67daf451677d8be0233c9eea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[5]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EFE, «Más de 2.000 millones de personas en el mundo no tienen acceso al agua potable» (informe de la OMS y UNICEF), swissinfo.ch, 26 ago. 2025. [En línea]. Disponible: https://www.swissinfo.ch/spa/m%C3%A1s-de-2.000-millones-de-personas-en-el-mundo-no-tienen-acceso-al-agua-potable/89899166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[6]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Y. J. Rodríguez Díaz, G. A. De la Cruz Frías, W. E. López Mena, L. Ricaurte Valdés y M. L. Morales Gutiérrez, «Uso de un polímero natural (quitosano) como coagulante durante el tratamiento de agua para consumo», Ingeniare, n.º 19, pp. 25–32, 2015, doi: 10.18041/1909-2458/ingeniare.19.466.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[7]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Y. Campo Vera, M. A. Delgado, Y. Roa, G. Mora y J. Carreño Ortiz, «Evaluación preliminar del efecto del quitosano y cáscara de naranja en la coagulación-floculación de aguas residuales», Rev. U.D.C.A Actualidad &amp; Divulgación Científica, jul.–dic. 2018. [En línea]. Disponible: https://revistas.udca.edu.co/index.php/ruadc/article/download/990/1487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[8]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Asamblea General de las Naciones Unidas, «Transformar nuestro mundo: la Agenda 2030 para el Desarrollo Sostenible», Resolución A/RES/70/1, Nueva York, NY, EE. UU., 2015.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[9]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Ministerio del Ambiente, «Decreto Supremo N.º 004-2017-MINAM: Aprueban Estándares de Calidad Ambiental (ECA) para Agua y establecen Disposiciones Complementarias», Lima, Perú, 2017.</a:t>
            </a:r>
            <a:endParaRPr b="0" i="0" sz="10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[10]</a:t>
            </a:r>
            <a:r>
              <a:rPr b="1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J. A. Manrique Tito, Análisis comparativo de la disminución de sólidos suspendidos utilizando Opuntia ficus-indica y cloruro férrico en las aguas del río Lurín, Trabajo de Suficiencia Profesional, Universidad Nacional Tecnológica de Lima Sur, 2019.</a:t>
            </a:r>
            <a:endParaRPr sz="1000">
              <a:solidFill>
                <a:srgbClr val="2B2F3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[1</a:t>
            </a:r>
            <a:r>
              <a:rPr b="1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Verein Deutscher Ingenieure (VDI), «VDI 2206: Metodología de diseño para sistemas mecatrónicos y sistemas ciberfísicos» (título original: Design methodology for mechatronic systems and cyber-physical systems), Düsseldorf, Alemania, 2021.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112E"/>
              </a:buClr>
              <a:buSzPts val="1000"/>
              <a:buFont typeface="Poppins"/>
              <a:buNone/>
            </a:pP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[1</a:t>
            </a:r>
            <a:r>
              <a:rPr b="1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i="0" lang="es-PE" sz="1000">
                <a:solidFill>
                  <a:srgbClr val="E3112E"/>
                </a:solidFill>
                <a:latin typeface="Poppins"/>
                <a:ea typeface="Poppins"/>
                <a:cs typeface="Poppins"/>
                <a:sym typeface="Poppins"/>
              </a:rPr>
              <a:t>]  </a:t>
            </a:r>
            <a:r>
              <a:rPr b="0" i="0" lang="es-PE" sz="1000">
                <a:solidFill>
                  <a:srgbClr val="2B2F3A"/>
                </a:solidFill>
                <a:latin typeface="Poppins"/>
                <a:ea typeface="Poppins"/>
                <a:cs typeface="Poppins"/>
                <a:sym typeface="Poppins"/>
              </a:rPr>
              <a:t>Equipo 05, «PI_Equipo_05: Proyecto Integrador 2026-II», GitHub. [En línea]. Disponible: https://github.com/BeyondNate/PI_Equipo_05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 txBox="1"/>
          <p:nvPr>
            <p:ph type="title"/>
          </p:nvPr>
        </p:nvSpPr>
        <p:spPr>
          <a:xfrm>
            <a:off x="838200" y="246667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112E"/>
              </a:buClr>
              <a:buSzPts val="8800"/>
              <a:buFont typeface="Poppins"/>
              <a:buNone/>
            </a:pPr>
            <a:r>
              <a:rPr lang="es-PE" sz="8800"/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2024-08-19T11:10:14Z</dcterms:created>
  <dc:creator>UMBERT LEWIS DE LA CRUZ RODRIGUEZ</dc:creator>
</cp:coreProperties>
</file>